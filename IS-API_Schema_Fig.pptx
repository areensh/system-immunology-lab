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88952" cy="9784080"/>
  <p:notesSz cx="978408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137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7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1371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Query Architecture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74320" y="594360"/>
            <a:ext cx="3291840" cy="347472"/>
          </a:xfrm>
          <a:prstGeom prst="roundRect">
            <a:avLst>
              <a:gd name="adj" fmla="val 18421"/>
            </a:avLst>
          </a:prstGeom>
          <a:solidFill>
            <a:srgbClr val="1A2744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59436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Filters (Input)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3291840" cy="640080"/>
          </a:xfrm>
          <a:prstGeom prst="roundRect">
            <a:avLst>
              <a:gd name="adj" fmla="val 8571"/>
            </a:avLst>
          </a:prstGeom>
          <a:solidFill>
            <a:srgbClr val="E8F1F8"/>
          </a:solidFill>
          <a:ln w="12700">
            <a:solidFill>
              <a:srgbClr val="2D6A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109728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Level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84048" y="1325880"/>
            <a:ext cx="3072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study_title</a:t>
            </a:r>
            <a:pPr indent="0" marL="0">
              <a:buNone/>
            </a:pPr>
            <a:r>
              <a:rPr lang="en-US" sz="900" dirty="0">
                <a:solidFill>
                  <a:srgbClr val="4A5B70"/>
                </a:solidFill>
              </a:rPr>
              <a:t> — which database(s)   </a:t>
            </a:r>
            <a:pPr indent="0" marL="0">
              <a:buNone/>
            </a:pPr>
            <a:r>
              <a:rPr lang="en-US" sz="90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Relevant publications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1783080"/>
            <a:ext cx="3291840" cy="868680"/>
          </a:xfrm>
          <a:prstGeom prst="roundRect">
            <a:avLst>
              <a:gd name="adj" fmla="val 6316"/>
            </a:avLst>
          </a:prstGeom>
          <a:solidFill>
            <a:srgbClr val="EDF4E5"/>
          </a:solidFill>
          <a:ln w="12700">
            <a:solidFill>
              <a:srgbClr val="5B7C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1828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7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Level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84048" y="2057400"/>
            <a:ext cx="3072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disease_stage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B70"/>
                </a:solidFill>
              </a:rPr>
              <a:t> — e.g. severe, mild, healthy
</a:t>
            </a:r>
            <a:pPr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sex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B70"/>
                </a:solidFill>
              </a:rPr>
              <a:t> — Male, Female     </a:t>
            </a:r>
            <a:pPr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 minimum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B70"/>
                </a:solidFill>
              </a:rPr>
              <a:t> — numeric age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4320" y="2743200"/>
            <a:ext cx="3291840" cy="868680"/>
          </a:xfrm>
          <a:prstGeom prst="roundRect">
            <a:avLst>
              <a:gd name="adj" fmla="val 6316"/>
            </a:avLst>
          </a:prstGeom>
          <a:solidFill>
            <a:srgbClr val="F8F0E6"/>
          </a:solidFill>
          <a:ln w="12700">
            <a:solidFill>
              <a:srgbClr val="8C5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278892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Level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84048" y="3017520"/>
            <a:ext cx="3072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tissue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B70"/>
                </a:solidFill>
              </a:rPr>
              <a:t> — blood, PBL, BM     </a:t>
            </a:r>
            <a:pPr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cell_subset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B70"/>
                </a:solidFill>
              </a:rPr>
              <a:t> — naive B, memory B
</a:t>
            </a:r>
            <a:pPr indent="0" marL="0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8C5A2E"/>
                </a:solidFill>
              </a:rPr>
              <a:t>→ Enables within-subject comparisons (e.g. blood vs BM, naive vs memory)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3703320"/>
            <a:ext cx="3291840" cy="320040"/>
          </a:xfrm>
          <a:prstGeom prst="roundRect">
            <a:avLst>
              <a:gd name="adj" fmla="val 14286"/>
            </a:avLst>
          </a:prstGeom>
          <a:solidFill>
            <a:srgbClr val="F3F5F9"/>
          </a:solidFill>
          <a:ln w="8890">
            <a:solidFill>
              <a:srgbClr val="D0D5DD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65760" y="3703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4A5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filters are freely combinable. "ALL" = all non-NA entries.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611880" y="2240280"/>
            <a:ext cx="502920" cy="365760"/>
          </a:xfrm>
          <a:prstGeom prst="rightArrow">
            <a:avLst/>
          </a:prstGeom>
          <a:solidFill>
            <a:srgbClr val="2D6A8F"/>
          </a:solidFill>
          <a:ln/>
        </p:spPr>
      </p:sp>
      <p:sp>
        <p:nvSpPr>
          <p:cNvPr id="18" name="Shape 16"/>
          <p:cNvSpPr/>
          <p:nvPr/>
        </p:nvSpPr>
        <p:spPr>
          <a:xfrm>
            <a:off x="4206240" y="594360"/>
            <a:ext cx="3474720" cy="347472"/>
          </a:xfrm>
          <a:prstGeom prst="roundRect">
            <a:avLst>
              <a:gd name="adj" fmla="val 18421"/>
            </a:avLst>
          </a:prstGeom>
          <a:solidFill>
            <a:srgbClr val="2D6A8F"/>
          </a:solidFill>
          <a:ln/>
        </p:spPr>
      </p:sp>
      <p:sp>
        <p:nvSpPr>
          <p:cNvPr id="19" name="Text 17"/>
          <p:cNvSpPr/>
          <p:nvPr/>
        </p:nvSpPr>
        <p:spPr>
          <a:xfrm>
            <a:off x="4206240" y="59436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IS-API v0.3.0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206240" y="10515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ImmuneDB Instances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343400" y="1325880"/>
            <a:ext cx="1554480" cy="384048"/>
          </a:xfrm>
          <a:prstGeom prst="roundRect">
            <a:avLst>
              <a:gd name="adj" fmla="val 11905"/>
            </a:avLst>
          </a:prstGeom>
          <a:solidFill>
            <a:srgbClr val="F3F5F9"/>
          </a:solidFill>
          <a:ln w="6350">
            <a:solidFill>
              <a:srgbClr val="D0D5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43400" y="1325880"/>
            <a:ext cx="91440" cy="384048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23" name="Text 21"/>
          <p:cNvSpPr/>
          <p:nvPr/>
        </p:nvSpPr>
        <p:spPr>
          <a:xfrm>
            <a:off x="4480560" y="13258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CD1  (n=51)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035040" y="1325880"/>
            <a:ext cx="1554480" cy="384048"/>
          </a:xfrm>
          <a:prstGeom prst="roundRect">
            <a:avLst>
              <a:gd name="adj" fmla="val 11905"/>
            </a:avLst>
          </a:prstGeom>
          <a:solidFill>
            <a:srgbClr val="F3F5F9"/>
          </a:solidFill>
          <a:ln w="6350">
            <a:solidFill>
              <a:srgbClr val="D0D5D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35040" y="1325880"/>
            <a:ext cx="91440" cy="38404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172200" y="13258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CD2  (n=19)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343400" y="1783080"/>
            <a:ext cx="1554480" cy="384048"/>
          </a:xfrm>
          <a:prstGeom prst="roundRect">
            <a:avLst>
              <a:gd name="adj" fmla="val 11905"/>
            </a:avLst>
          </a:prstGeom>
          <a:solidFill>
            <a:srgbClr val="F3F5F9"/>
          </a:solidFill>
          <a:ln w="6350">
            <a:solidFill>
              <a:srgbClr val="D0D5D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43400" y="1783080"/>
            <a:ext cx="91440" cy="384048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9" name="Text 27"/>
          <p:cNvSpPr/>
          <p:nvPr/>
        </p:nvSpPr>
        <p:spPr>
          <a:xfrm>
            <a:off x="4480560" y="17830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CD3  (n=13)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035040" y="1783080"/>
            <a:ext cx="1554480" cy="384048"/>
          </a:xfrm>
          <a:prstGeom prst="roundRect">
            <a:avLst>
              <a:gd name="adj" fmla="val 11905"/>
            </a:avLst>
          </a:prstGeom>
          <a:solidFill>
            <a:srgbClr val="F3F5F9"/>
          </a:solidFill>
          <a:ln w="6350">
            <a:solidFill>
              <a:srgbClr val="D0D5D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35040" y="1783080"/>
            <a:ext cx="91440" cy="384048"/>
          </a:xfrm>
          <a:prstGeom prst="rect">
            <a:avLst/>
          </a:prstGeom>
          <a:solidFill>
            <a:srgbClr val="7E57C2"/>
          </a:solidFill>
          <a:ln/>
        </p:spPr>
      </p:sp>
      <p:sp>
        <p:nvSpPr>
          <p:cNvPr id="32" name="Text 30"/>
          <p:cNvSpPr/>
          <p:nvPr/>
        </p:nvSpPr>
        <p:spPr>
          <a:xfrm>
            <a:off x="6172200" y="17830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CVX1  (n=12)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343400" y="2240280"/>
            <a:ext cx="1554480" cy="384048"/>
          </a:xfrm>
          <a:prstGeom prst="roundRect">
            <a:avLst>
              <a:gd name="adj" fmla="val 11905"/>
            </a:avLst>
          </a:prstGeom>
          <a:solidFill>
            <a:srgbClr val="F3F5F9"/>
          </a:solidFill>
          <a:ln w="6350">
            <a:solidFill>
              <a:srgbClr val="D0D5D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43400" y="2240280"/>
            <a:ext cx="91440" cy="384048"/>
          </a:xfrm>
          <a:prstGeom prst="rect">
            <a:avLst/>
          </a:prstGeom>
          <a:solidFill>
            <a:srgbClr val="9467BD"/>
          </a:solidFill>
          <a:ln/>
        </p:spPr>
      </p:sp>
      <p:sp>
        <p:nvSpPr>
          <p:cNvPr id="35" name="Text 33"/>
          <p:cNvSpPr/>
          <p:nvPr/>
        </p:nvSpPr>
        <p:spPr>
          <a:xfrm>
            <a:off x="4480560" y="22402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CVX2  (n=5)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035040" y="2240280"/>
            <a:ext cx="1554480" cy="384048"/>
          </a:xfrm>
          <a:prstGeom prst="roundRect">
            <a:avLst>
              <a:gd name="adj" fmla="val 11905"/>
            </a:avLst>
          </a:prstGeom>
          <a:solidFill>
            <a:srgbClr val="F3F5F9"/>
          </a:solidFill>
          <a:ln w="6350">
            <a:solidFill>
              <a:srgbClr val="D0D5D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35040" y="2240280"/>
            <a:ext cx="91440" cy="38404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8" name="Text 36"/>
          <p:cNvSpPr/>
          <p:nvPr/>
        </p:nvSpPr>
        <p:spPr>
          <a:xfrm>
            <a:off x="6172200" y="22402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HC1  (n=6)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343400" y="2697480"/>
            <a:ext cx="1554480" cy="384048"/>
          </a:xfrm>
          <a:prstGeom prst="roundRect">
            <a:avLst>
              <a:gd name="adj" fmla="val 11905"/>
            </a:avLst>
          </a:prstGeom>
          <a:solidFill>
            <a:srgbClr val="F3F5F9"/>
          </a:solidFill>
          <a:ln w="6350">
            <a:solidFill>
              <a:srgbClr val="D0D5D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343400" y="2697480"/>
            <a:ext cx="91440" cy="384048"/>
          </a:xfrm>
          <a:prstGeom prst="rect">
            <a:avLst/>
          </a:prstGeom>
          <a:solidFill>
            <a:srgbClr val="78909C"/>
          </a:solidFill>
          <a:ln/>
        </p:spPr>
      </p:sp>
      <p:sp>
        <p:nvSpPr>
          <p:cNvPr id="41" name="Text 39"/>
          <p:cNvSpPr/>
          <p:nvPr/>
        </p:nvSpPr>
        <p:spPr>
          <a:xfrm>
            <a:off x="4480560" y="26974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GT1  (n=15)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206240" y="320040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103 subjects total (blood/PBL)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343400" y="3474720"/>
            <a:ext cx="3200400" cy="1188720"/>
          </a:xfrm>
          <a:prstGeom prst="roundRect">
            <a:avLst>
              <a:gd name="adj" fmla="val 3846"/>
            </a:avLst>
          </a:prstGeom>
          <a:solidFill>
            <a:srgbClr val="E8F1F8"/>
          </a:solidFill>
          <a:ln w="10160">
            <a:solidFill>
              <a:srgbClr val="2D6A8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34840" y="352044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Parameters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434840" y="37490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Counting mode
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A5B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unique_cnt  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A5B70"/>
                </a:solidFill>
              </a:rPr>
              <a:t>unique sequences
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A5B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total_cnt   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A5B70"/>
                </a:solidFill>
              </a:rPr>
              <a:t>copies / reads
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A5B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instances   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A5B70"/>
                </a:solidFill>
              </a:rPr>
              <a:t>clone occurrences
</a:t>
            </a:r>
            <a:pPr indent="0" marL="0">
              <a:lnSpc>
                <a:spcPct val="105000"/>
              </a:lnSpc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Clone size threshold
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A5B70"/>
                </a:solidFill>
              </a:rPr>
              <a:t>  configurable min. clone size
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A5B70"/>
                </a:solidFill>
              </a:rPr>
              <a:t>  (default: ≥20 unique seqs)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7726680" y="2240280"/>
            <a:ext cx="502920" cy="365760"/>
          </a:xfrm>
          <a:prstGeom prst="rightArrow">
            <a:avLst/>
          </a:prstGeom>
          <a:solidFill>
            <a:srgbClr val="2D6A8F"/>
          </a:solidFill>
          <a:ln/>
        </p:spPr>
      </p:sp>
      <p:sp>
        <p:nvSpPr>
          <p:cNvPr id="47" name="Shape 45"/>
          <p:cNvSpPr/>
          <p:nvPr/>
        </p:nvSpPr>
        <p:spPr>
          <a:xfrm>
            <a:off x="8321040" y="594360"/>
            <a:ext cx="3566160" cy="347472"/>
          </a:xfrm>
          <a:prstGeom prst="roundRect">
            <a:avLst>
              <a:gd name="adj" fmla="val 18421"/>
            </a:avLst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8321040" y="59436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Outputs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8321040" y="1051560"/>
            <a:ext cx="3566160" cy="868680"/>
          </a:xfrm>
          <a:prstGeom prst="roundRect">
            <a:avLst>
              <a:gd name="adj" fmla="val 6316"/>
            </a:avLst>
          </a:prstGeom>
          <a:solidFill>
            <a:srgbClr val="FFF3E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30768" y="109728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Level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430768" y="1307592"/>
            <a:ext cx="33467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clone_count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A5B70"/>
                </a:solidFill>
              </a:rPr>
              <a:t>  # distinct clones
</a:t>
            </a:r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clone_size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A5B70"/>
                </a:solidFill>
              </a:rPr>
              <a:t>  unique seqs/clone (≥20)
</a:t>
            </a:r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topX_clone_size_copies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A5B70"/>
                </a:solidFill>
              </a:rPr>
              <a:t>  Top 10/100/1000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8321040" y="2011680"/>
            <a:ext cx="3566160" cy="640080"/>
          </a:xfrm>
          <a:prstGeom prst="roundRect">
            <a:avLst>
              <a:gd name="adj" fmla="val 8571"/>
            </a:avLst>
          </a:prstGeom>
          <a:solidFill>
            <a:srgbClr val="F0EAF5"/>
          </a:solidFill>
          <a:ln w="12700">
            <a:solidFill>
              <a:srgbClr val="6B4C8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430768" y="20574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4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CDR3 Level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430768" y="2267712"/>
            <a:ext cx="3346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topX_AA_AVG_CDR3_length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A5B70"/>
                </a:solidFill>
              </a:rPr>
              <a:t>  AA avg (top 10)
</a:t>
            </a:r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topX_nt_AVG_CDR3_length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A5B70"/>
                </a:solidFill>
              </a:rPr>
              <a:t>  nt avg (top 10)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8321040" y="2743200"/>
            <a:ext cx="3566160" cy="1280160"/>
          </a:xfrm>
          <a:prstGeom prst="roundRect">
            <a:avLst>
              <a:gd name="adj" fmla="val 4286"/>
            </a:avLst>
          </a:prstGeom>
          <a:solidFill>
            <a:srgbClr val="E8F5E9"/>
          </a:solidFill>
          <a:ln w="12700">
            <a:solidFill>
              <a:srgbClr val="388E3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430768" y="27889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 Level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430768" y="2999232"/>
            <a:ext cx="33467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topX_mutation_level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A5B70"/>
                </a:solidFill>
              </a:rPr>
              <a:t>  avg count (top 10)
</a:t>
            </a:r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mutation_by_region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A5B70"/>
                </a:solidFill>
              </a:rPr>
              <a:t>  CDR vs FWR
</a:t>
            </a:r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mutation_by_type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A5B70"/>
                </a:solidFill>
              </a:rPr>
              <a:t>  Replacement vs Silent
</a:t>
            </a:r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mutation_cdr_rs_ratio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A5B70"/>
                </a:solidFill>
              </a:rPr>
              <a:t>  R/S ratio by region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228600" y="4937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7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800" dirty="0"/>
          </a:p>
        </p:txBody>
      </p:sp>
      <p:sp>
        <p:nvSpPr>
          <p:cNvPr id="59" name="Text 57"/>
          <p:cNvSpPr/>
          <p:nvPr/>
        </p:nvSpPr>
        <p:spPr>
          <a:xfrm>
            <a:off x="548640" y="4937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Query Capability Matrix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274320" y="5257800"/>
            <a:ext cx="1161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metadata filter combination can be paired with any statistical endpoint. Checkmarks indicate queries demonstrated in this study.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274320" y="5623560"/>
            <a:ext cx="2560320" cy="438912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2" name="Text 60"/>
          <p:cNvSpPr/>
          <p:nvPr/>
        </p:nvSpPr>
        <p:spPr>
          <a:xfrm>
            <a:off x="274320" y="5623560"/>
            <a:ext cx="2560320" cy="43891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Filter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Combination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2834640" y="5623560"/>
            <a:ext cx="1207008" cy="438912"/>
          </a:xfrm>
          <a:prstGeom prst="rect">
            <a:avLst/>
          </a:prstGeom>
          <a:solidFill>
            <a:srgbClr val="FFF3E0"/>
          </a:solidFill>
          <a:ln w="5080">
            <a:solidFill>
              <a:srgbClr val="D0D5DD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834640" y="5623560"/>
            <a:ext cx="1207008" cy="438912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4041648" y="5623560"/>
            <a:ext cx="1207008" cy="438912"/>
          </a:xfrm>
          <a:prstGeom prst="rect">
            <a:avLst/>
          </a:prstGeom>
          <a:solidFill>
            <a:srgbClr val="FFF3E0"/>
          </a:solidFill>
          <a:ln w="5080">
            <a:solidFill>
              <a:srgbClr val="D0D5DD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41648" y="5623560"/>
            <a:ext cx="1207008" cy="438912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5248656" y="5623560"/>
            <a:ext cx="1207008" cy="438912"/>
          </a:xfrm>
          <a:prstGeom prst="rect">
            <a:avLst/>
          </a:prstGeom>
          <a:solidFill>
            <a:srgbClr val="FFF3E0"/>
          </a:solidFill>
          <a:ln w="5080">
            <a:solidFill>
              <a:srgbClr val="D0D5DD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248656" y="5623560"/>
            <a:ext cx="1207008" cy="438912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Top-X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Copies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6455664" y="5623560"/>
            <a:ext cx="1207008" cy="438912"/>
          </a:xfrm>
          <a:prstGeom prst="rect">
            <a:avLst/>
          </a:prstGeom>
          <a:solidFill>
            <a:srgbClr val="F0EAF5"/>
          </a:solidFill>
          <a:ln w="5080">
            <a:solidFill>
              <a:srgbClr val="D0D5DD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55664" y="5623560"/>
            <a:ext cx="1207008" cy="438912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B4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CDR3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6B4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7662672" y="5623560"/>
            <a:ext cx="1207008" cy="438912"/>
          </a:xfrm>
          <a:prstGeom prst="rect">
            <a:avLst/>
          </a:prstGeom>
          <a:solidFill>
            <a:srgbClr val="E8F5E9"/>
          </a:solidFill>
          <a:ln w="5080">
            <a:solidFill>
              <a:srgbClr val="D0D5DD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662672" y="5623560"/>
            <a:ext cx="1207008" cy="438912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8869680" y="5623560"/>
            <a:ext cx="1207008" cy="438912"/>
          </a:xfrm>
          <a:prstGeom prst="rect">
            <a:avLst/>
          </a:prstGeom>
          <a:solidFill>
            <a:srgbClr val="E8F5E9"/>
          </a:solidFill>
          <a:ln w="5080">
            <a:solidFill>
              <a:srgbClr val="D0D5DD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869680" y="5623560"/>
            <a:ext cx="1207008" cy="438912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CDR vs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FWR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10076688" y="5623560"/>
            <a:ext cx="1207008" cy="438912"/>
          </a:xfrm>
          <a:prstGeom prst="rect">
            <a:avLst/>
          </a:prstGeom>
          <a:solidFill>
            <a:srgbClr val="E8F5E9"/>
          </a:solidFill>
          <a:ln w="5080">
            <a:solidFill>
              <a:srgbClr val="D0D5DD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0076688" y="5623560"/>
            <a:ext cx="1207008" cy="438912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vs 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11283696" y="5623560"/>
            <a:ext cx="1207008" cy="438912"/>
          </a:xfrm>
          <a:prstGeom prst="rect">
            <a:avLst/>
          </a:prstGeom>
          <a:solidFill>
            <a:srgbClr val="E8F5E9"/>
          </a:solidFill>
          <a:ln w="5080">
            <a:solidFill>
              <a:srgbClr val="D0D5DD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1283696" y="5623560"/>
            <a:ext cx="1207008" cy="438912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274320" y="6062472"/>
            <a:ext cx="2560320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65760" y="606247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disease_stage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2834640" y="6062472"/>
            <a:ext cx="1207008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834640" y="6062472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3" name="Shape 81"/>
          <p:cNvSpPr/>
          <p:nvPr/>
        </p:nvSpPr>
        <p:spPr>
          <a:xfrm>
            <a:off x="4041648" y="6062472"/>
            <a:ext cx="1207008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041648" y="6062472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5" name="Shape 83"/>
          <p:cNvSpPr/>
          <p:nvPr/>
        </p:nvSpPr>
        <p:spPr>
          <a:xfrm>
            <a:off x="5248656" y="6062472"/>
            <a:ext cx="1207008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248656" y="6062472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7" name="Shape 85"/>
          <p:cNvSpPr/>
          <p:nvPr/>
        </p:nvSpPr>
        <p:spPr>
          <a:xfrm>
            <a:off x="6455664" y="6062472"/>
            <a:ext cx="1207008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455664" y="6062472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9" name="Shape 87"/>
          <p:cNvSpPr/>
          <p:nvPr/>
        </p:nvSpPr>
        <p:spPr>
          <a:xfrm>
            <a:off x="7662672" y="6062472"/>
            <a:ext cx="1207008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662672" y="6062472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91" name="Shape 89"/>
          <p:cNvSpPr/>
          <p:nvPr/>
        </p:nvSpPr>
        <p:spPr>
          <a:xfrm>
            <a:off x="8869680" y="6062472"/>
            <a:ext cx="1207008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869680" y="6062472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93" name="Shape 91"/>
          <p:cNvSpPr/>
          <p:nvPr/>
        </p:nvSpPr>
        <p:spPr>
          <a:xfrm>
            <a:off x="10076688" y="6062472"/>
            <a:ext cx="1207008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10076688" y="6062472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95" name="Shape 93"/>
          <p:cNvSpPr/>
          <p:nvPr/>
        </p:nvSpPr>
        <p:spPr>
          <a:xfrm>
            <a:off x="11283696" y="6062472"/>
            <a:ext cx="1207008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1283696" y="6062472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97" name="Shape 95"/>
          <p:cNvSpPr/>
          <p:nvPr/>
        </p:nvSpPr>
        <p:spPr>
          <a:xfrm>
            <a:off x="274320" y="6409944"/>
            <a:ext cx="256032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365760" y="640994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disease_stage + sex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2834640" y="6409944"/>
            <a:ext cx="1207008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2834640" y="6409944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1" name="Shape 99"/>
          <p:cNvSpPr/>
          <p:nvPr/>
        </p:nvSpPr>
        <p:spPr>
          <a:xfrm>
            <a:off x="4041648" y="6409944"/>
            <a:ext cx="1207008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041648" y="6409944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3" name="Shape 101"/>
          <p:cNvSpPr/>
          <p:nvPr/>
        </p:nvSpPr>
        <p:spPr>
          <a:xfrm>
            <a:off x="5248656" y="6409944"/>
            <a:ext cx="1207008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5248656" y="6409944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5" name="Shape 103"/>
          <p:cNvSpPr/>
          <p:nvPr/>
        </p:nvSpPr>
        <p:spPr>
          <a:xfrm>
            <a:off x="6455664" y="6409944"/>
            <a:ext cx="1207008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6455664" y="6409944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7" name="Shape 105"/>
          <p:cNvSpPr/>
          <p:nvPr/>
        </p:nvSpPr>
        <p:spPr>
          <a:xfrm>
            <a:off x="7662672" y="6409944"/>
            <a:ext cx="1207008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662672" y="6409944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9" name="Shape 107"/>
          <p:cNvSpPr/>
          <p:nvPr/>
        </p:nvSpPr>
        <p:spPr>
          <a:xfrm>
            <a:off x="8869680" y="6409944"/>
            <a:ext cx="1207008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869680" y="6409944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5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10076688" y="6409944"/>
            <a:ext cx="1207008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10076688" y="6409944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5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11283696" y="6409944"/>
            <a:ext cx="1207008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11283696" y="6409944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5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274320" y="6757416"/>
            <a:ext cx="2560320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65760" y="6757416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disease_stage + age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2834640" y="6757416"/>
            <a:ext cx="1207008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2834640" y="6757416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9" name="Shape 117"/>
          <p:cNvSpPr/>
          <p:nvPr/>
        </p:nvSpPr>
        <p:spPr>
          <a:xfrm>
            <a:off x="4041648" y="6757416"/>
            <a:ext cx="1207008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4041648" y="6757416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1" name="Shape 119"/>
          <p:cNvSpPr/>
          <p:nvPr/>
        </p:nvSpPr>
        <p:spPr>
          <a:xfrm>
            <a:off x="5248656" y="6757416"/>
            <a:ext cx="1207008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5248656" y="6757416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3" name="Shape 121"/>
          <p:cNvSpPr/>
          <p:nvPr/>
        </p:nvSpPr>
        <p:spPr>
          <a:xfrm>
            <a:off x="6455664" y="6757416"/>
            <a:ext cx="1207008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455664" y="6757416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5" name="Shape 123"/>
          <p:cNvSpPr/>
          <p:nvPr/>
        </p:nvSpPr>
        <p:spPr>
          <a:xfrm>
            <a:off x="7662672" y="6757416"/>
            <a:ext cx="1207008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7662672" y="6757416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7" name="Shape 125"/>
          <p:cNvSpPr/>
          <p:nvPr/>
        </p:nvSpPr>
        <p:spPr>
          <a:xfrm>
            <a:off x="8869680" y="6757416"/>
            <a:ext cx="1207008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8869680" y="6757416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5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29" name="Shape 127"/>
          <p:cNvSpPr/>
          <p:nvPr/>
        </p:nvSpPr>
        <p:spPr>
          <a:xfrm>
            <a:off x="10076688" y="6757416"/>
            <a:ext cx="1207008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10076688" y="6757416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5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31" name="Shape 129"/>
          <p:cNvSpPr/>
          <p:nvPr/>
        </p:nvSpPr>
        <p:spPr>
          <a:xfrm>
            <a:off x="11283696" y="6757416"/>
            <a:ext cx="1207008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11283696" y="6757416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5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33" name="Shape 131"/>
          <p:cNvSpPr/>
          <p:nvPr/>
        </p:nvSpPr>
        <p:spPr>
          <a:xfrm>
            <a:off x="274320" y="7104888"/>
            <a:ext cx="256032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365760" y="71048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tissue</a:t>
            </a:r>
            <a:endParaRPr lang="en-US" sz="900" dirty="0"/>
          </a:p>
        </p:txBody>
      </p:sp>
      <p:sp>
        <p:nvSpPr>
          <p:cNvPr id="135" name="Shape 133"/>
          <p:cNvSpPr/>
          <p:nvPr/>
        </p:nvSpPr>
        <p:spPr>
          <a:xfrm>
            <a:off x="2834640" y="7104888"/>
            <a:ext cx="1207008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2834640" y="7104888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37" name="Shape 135"/>
          <p:cNvSpPr/>
          <p:nvPr/>
        </p:nvSpPr>
        <p:spPr>
          <a:xfrm>
            <a:off x="4041648" y="7104888"/>
            <a:ext cx="1207008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041648" y="7104888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39" name="Shape 137"/>
          <p:cNvSpPr/>
          <p:nvPr/>
        </p:nvSpPr>
        <p:spPr>
          <a:xfrm>
            <a:off x="5248656" y="7104888"/>
            <a:ext cx="1207008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5248656" y="7104888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1" name="Shape 139"/>
          <p:cNvSpPr/>
          <p:nvPr/>
        </p:nvSpPr>
        <p:spPr>
          <a:xfrm>
            <a:off x="6455664" y="7104888"/>
            <a:ext cx="1207008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6455664" y="7104888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3" name="Shape 141"/>
          <p:cNvSpPr/>
          <p:nvPr/>
        </p:nvSpPr>
        <p:spPr>
          <a:xfrm>
            <a:off x="7662672" y="7104888"/>
            <a:ext cx="1207008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7662672" y="7104888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5" name="Shape 143"/>
          <p:cNvSpPr/>
          <p:nvPr/>
        </p:nvSpPr>
        <p:spPr>
          <a:xfrm>
            <a:off x="8869680" y="7104888"/>
            <a:ext cx="1207008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8869680" y="7104888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7" name="Shape 145"/>
          <p:cNvSpPr/>
          <p:nvPr/>
        </p:nvSpPr>
        <p:spPr>
          <a:xfrm>
            <a:off x="10076688" y="7104888"/>
            <a:ext cx="1207008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10076688" y="7104888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9" name="Shape 147"/>
          <p:cNvSpPr/>
          <p:nvPr/>
        </p:nvSpPr>
        <p:spPr>
          <a:xfrm>
            <a:off x="11283696" y="7104888"/>
            <a:ext cx="1207008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11283696" y="7104888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51" name="Shape 149"/>
          <p:cNvSpPr/>
          <p:nvPr/>
        </p:nvSpPr>
        <p:spPr>
          <a:xfrm>
            <a:off x="274320" y="7452360"/>
            <a:ext cx="2560320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365760" y="74523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disease_stage + tissue</a:t>
            </a:r>
            <a:endParaRPr lang="en-US" sz="900" dirty="0"/>
          </a:p>
        </p:txBody>
      </p:sp>
      <p:sp>
        <p:nvSpPr>
          <p:cNvPr id="153" name="Shape 151"/>
          <p:cNvSpPr/>
          <p:nvPr/>
        </p:nvSpPr>
        <p:spPr>
          <a:xfrm>
            <a:off x="2834640" y="7452360"/>
            <a:ext cx="1207008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2834640" y="7452360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55" name="Shape 153"/>
          <p:cNvSpPr/>
          <p:nvPr/>
        </p:nvSpPr>
        <p:spPr>
          <a:xfrm>
            <a:off x="4041648" y="7452360"/>
            <a:ext cx="1207008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4041648" y="7452360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57" name="Shape 155"/>
          <p:cNvSpPr/>
          <p:nvPr/>
        </p:nvSpPr>
        <p:spPr>
          <a:xfrm>
            <a:off x="5248656" y="7452360"/>
            <a:ext cx="1207008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5248656" y="7452360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59" name="Shape 157"/>
          <p:cNvSpPr/>
          <p:nvPr/>
        </p:nvSpPr>
        <p:spPr>
          <a:xfrm>
            <a:off x="6455664" y="7452360"/>
            <a:ext cx="1207008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6455664" y="7452360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61" name="Shape 159"/>
          <p:cNvSpPr/>
          <p:nvPr/>
        </p:nvSpPr>
        <p:spPr>
          <a:xfrm>
            <a:off x="7662672" y="7452360"/>
            <a:ext cx="1207008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7662672" y="7452360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63" name="Shape 161"/>
          <p:cNvSpPr/>
          <p:nvPr/>
        </p:nvSpPr>
        <p:spPr>
          <a:xfrm>
            <a:off x="8869680" y="7452360"/>
            <a:ext cx="1207008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8869680" y="7452360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65" name="Shape 163"/>
          <p:cNvSpPr/>
          <p:nvPr/>
        </p:nvSpPr>
        <p:spPr>
          <a:xfrm>
            <a:off x="10076688" y="7452360"/>
            <a:ext cx="1207008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10076688" y="7452360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67" name="Shape 165"/>
          <p:cNvSpPr/>
          <p:nvPr/>
        </p:nvSpPr>
        <p:spPr>
          <a:xfrm>
            <a:off x="11283696" y="7452360"/>
            <a:ext cx="1207008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11283696" y="7452360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69" name="Shape 167"/>
          <p:cNvSpPr/>
          <p:nvPr/>
        </p:nvSpPr>
        <p:spPr>
          <a:xfrm>
            <a:off x="274320" y="7799832"/>
            <a:ext cx="256032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365760" y="779983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disease + sex + tissue</a:t>
            </a:r>
            <a:endParaRPr lang="en-US" sz="900" dirty="0"/>
          </a:p>
        </p:txBody>
      </p:sp>
      <p:sp>
        <p:nvSpPr>
          <p:cNvPr id="171" name="Shape 169"/>
          <p:cNvSpPr/>
          <p:nvPr/>
        </p:nvSpPr>
        <p:spPr>
          <a:xfrm>
            <a:off x="2834640" y="7799832"/>
            <a:ext cx="1207008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2834640" y="7799832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73" name="Shape 171"/>
          <p:cNvSpPr/>
          <p:nvPr/>
        </p:nvSpPr>
        <p:spPr>
          <a:xfrm>
            <a:off x="4041648" y="7799832"/>
            <a:ext cx="1207008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4041648" y="7799832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75" name="Shape 173"/>
          <p:cNvSpPr/>
          <p:nvPr/>
        </p:nvSpPr>
        <p:spPr>
          <a:xfrm>
            <a:off x="5248656" y="7799832"/>
            <a:ext cx="1207008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5248656" y="7799832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77" name="Shape 175"/>
          <p:cNvSpPr/>
          <p:nvPr/>
        </p:nvSpPr>
        <p:spPr>
          <a:xfrm>
            <a:off x="6455664" y="7799832"/>
            <a:ext cx="1207008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6455664" y="7799832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79" name="Shape 177"/>
          <p:cNvSpPr/>
          <p:nvPr/>
        </p:nvSpPr>
        <p:spPr>
          <a:xfrm>
            <a:off x="7662672" y="7799832"/>
            <a:ext cx="1207008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7662672" y="7799832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81" name="Shape 179"/>
          <p:cNvSpPr/>
          <p:nvPr/>
        </p:nvSpPr>
        <p:spPr>
          <a:xfrm>
            <a:off x="8869680" y="7799832"/>
            <a:ext cx="1207008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8869680" y="7799832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5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83" name="Shape 181"/>
          <p:cNvSpPr/>
          <p:nvPr/>
        </p:nvSpPr>
        <p:spPr>
          <a:xfrm>
            <a:off x="10076688" y="7799832"/>
            <a:ext cx="1207008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10076688" y="7799832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5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85" name="Shape 183"/>
          <p:cNvSpPr/>
          <p:nvPr/>
        </p:nvSpPr>
        <p:spPr>
          <a:xfrm>
            <a:off x="11283696" y="7799832"/>
            <a:ext cx="1207008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11283696" y="7799832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5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87" name="Shape 185"/>
          <p:cNvSpPr/>
          <p:nvPr/>
        </p:nvSpPr>
        <p:spPr>
          <a:xfrm>
            <a:off x="274320" y="8147304"/>
            <a:ext cx="2560320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365760" y="814730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disease + age + tissue</a:t>
            </a:r>
            <a:endParaRPr lang="en-US" sz="900" dirty="0"/>
          </a:p>
        </p:txBody>
      </p:sp>
      <p:sp>
        <p:nvSpPr>
          <p:cNvPr id="189" name="Shape 187"/>
          <p:cNvSpPr/>
          <p:nvPr/>
        </p:nvSpPr>
        <p:spPr>
          <a:xfrm>
            <a:off x="2834640" y="8147304"/>
            <a:ext cx="1207008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2834640" y="8147304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91" name="Shape 189"/>
          <p:cNvSpPr/>
          <p:nvPr/>
        </p:nvSpPr>
        <p:spPr>
          <a:xfrm>
            <a:off x="4041648" y="8147304"/>
            <a:ext cx="1207008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4041648" y="8147304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93" name="Shape 191"/>
          <p:cNvSpPr/>
          <p:nvPr/>
        </p:nvSpPr>
        <p:spPr>
          <a:xfrm>
            <a:off x="5248656" y="8147304"/>
            <a:ext cx="1207008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94" name="Text 192"/>
          <p:cNvSpPr/>
          <p:nvPr/>
        </p:nvSpPr>
        <p:spPr>
          <a:xfrm>
            <a:off x="5248656" y="8147304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95" name="Shape 193"/>
          <p:cNvSpPr/>
          <p:nvPr/>
        </p:nvSpPr>
        <p:spPr>
          <a:xfrm>
            <a:off x="6455664" y="8147304"/>
            <a:ext cx="1207008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6455664" y="8147304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97" name="Shape 195"/>
          <p:cNvSpPr/>
          <p:nvPr/>
        </p:nvSpPr>
        <p:spPr>
          <a:xfrm>
            <a:off x="7662672" y="8147304"/>
            <a:ext cx="1207008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7662672" y="8147304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99" name="Shape 197"/>
          <p:cNvSpPr/>
          <p:nvPr/>
        </p:nvSpPr>
        <p:spPr>
          <a:xfrm>
            <a:off x="8869680" y="8147304"/>
            <a:ext cx="1207008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200" name="Text 198"/>
          <p:cNvSpPr/>
          <p:nvPr/>
        </p:nvSpPr>
        <p:spPr>
          <a:xfrm>
            <a:off x="8869680" y="8147304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5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01" name="Shape 199"/>
          <p:cNvSpPr/>
          <p:nvPr/>
        </p:nvSpPr>
        <p:spPr>
          <a:xfrm>
            <a:off x="10076688" y="8147304"/>
            <a:ext cx="1207008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202" name="Text 200"/>
          <p:cNvSpPr/>
          <p:nvPr/>
        </p:nvSpPr>
        <p:spPr>
          <a:xfrm>
            <a:off x="10076688" y="8147304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5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03" name="Shape 201"/>
          <p:cNvSpPr/>
          <p:nvPr/>
        </p:nvSpPr>
        <p:spPr>
          <a:xfrm>
            <a:off x="11283696" y="8147304"/>
            <a:ext cx="1207008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11283696" y="8147304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5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05" name="Shape 203"/>
          <p:cNvSpPr/>
          <p:nvPr/>
        </p:nvSpPr>
        <p:spPr>
          <a:xfrm>
            <a:off x="274320" y="8494776"/>
            <a:ext cx="256032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365760" y="8494776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study_title</a:t>
            </a:r>
            <a:endParaRPr lang="en-US" sz="900" dirty="0"/>
          </a:p>
        </p:txBody>
      </p:sp>
      <p:sp>
        <p:nvSpPr>
          <p:cNvPr id="207" name="Shape 205"/>
          <p:cNvSpPr/>
          <p:nvPr/>
        </p:nvSpPr>
        <p:spPr>
          <a:xfrm>
            <a:off x="2834640" y="8494776"/>
            <a:ext cx="1207008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2834640" y="8494776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09" name="Shape 207"/>
          <p:cNvSpPr/>
          <p:nvPr/>
        </p:nvSpPr>
        <p:spPr>
          <a:xfrm>
            <a:off x="4041648" y="8494776"/>
            <a:ext cx="1207008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4041648" y="8494776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11" name="Shape 209"/>
          <p:cNvSpPr/>
          <p:nvPr/>
        </p:nvSpPr>
        <p:spPr>
          <a:xfrm>
            <a:off x="5248656" y="8494776"/>
            <a:ext cx="1207008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212" name="Text 210"/>
          <p:cNvSpPr/>
          <p:nvPr/>
        </p:nvSpPr>
        <p:spPr>
          <a:xfrm>
            <a:off x="5248656" y="8494776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13" name="Shape 211"/>
          <p:cNvSpPr/>
          <p:nvPr/>
        </p:nvSpPr>
        <p:spPr>
          <a:xfrm>
            <a:off x="6455664" y="8494776"/>
            <a:ext cx="1207008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214" name="Text 212"/>
          <p:cNvSpPr/>
          <p:nvPr/>
        </p:nvSpPr>
        <p:spPr>
          <a:xfrm>
            <a:off x="6455664" y="8494776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15" name="Shape 213"/>
          <p:cNvSpPr/>
          <p:nvPr/>
        </p:nvSpPr>
        <p:spPr>
          <a:xfrm>
            <a:off x="7662672" y="8494776"/>
            <a:ext cx="1207008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216" name="Text 214"/>
          <p:cNvSpPr/>
          <p:nvPr/>
        </p:nvSpPr>
        <p:spPr>
          <a:xfrm>
            <a:off x="7662672" y="8494776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17" name="Shape 215"/>
          <p:cNvSpPr/>
          <p:nvPr/>
        </p:nvSpPr>
        <p:spPr>
          <a:xfrm>
            <a:off x="8869680" y="8494776"/>
            <a:ext cx="1207008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218" name="Text 216"/>
          <p:cNvSpPr/>
          <p:nvPr/>
        </p:nvSpPr>
        <p:spPr>
          <a:xfrm>
            <a:off x="8869680" y="8494776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19" name="Shape 217"/>
          <p:cNvSpPr/>
          <p:nvPr/>
        </p:nvSpPr>
        <p:spPr>
          <a:xfrm>
            <a:off x="10076688" y="8494776"/>
            <a:ext cx="1207008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220" name="Text 218"/>
          <p:cNvSpPr/>
          <p:nvPr/>
        </p:nvSpPr>
        <p:spPr>
          <a:xfrm>
            <a:off x="10076688" y="8494776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21" name="Shape 219"/>
          <p:cNvSpPr/>
          <p:nvPr/>
        </p:nvSpPr>
        <p:spPr>
          <a:xfrm>
            <a:off x="11283696" y="8494776"/>
            <a:ext cx="1207008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11283696" y="8494776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23" name="Shape 221"/>
          <p:cNvSpPr/>
          <p:nvPr/>
        </p:nvSpPr>
        <p:spPr>
          <a:xfrm>
            <a:off x="274320" y="8842248"/>
            <a:ext cx="2560320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224" name="Text 222"/>
          <p:cNvSpPr/>
          <p:nvPr/>
        </p:nvSpPr>
        <p:spPr>
          <a:xfrm>
            <a:off x="365760" y="884224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tissue (within subject)</a:t>
            </a:r>
            <a:endParaRPr lang="en-US" sz="900" dirty="0"/>
          </a:p>
        </p:txBody>
      </p:sp>
      <p:sp>
        <p:nvSpPr>
          <p:cNvPr id="225" name="Shape 223"/>
          <p:cNvSpPr/>
          <p:nvPr/>
        </p:nvSpPr>
        <p:spPr>
          <a:xfrm>
            <a:off x="2834640" y="8842248"/>
            <a:ext cx="1207008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2834640" y="8842248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27" name="Shape 225"/>
          <p:cNvSpPr/>
          <p:nvPr/>
        </p:nvSpPr>
        <p:spPr>
          <a:xfrm>
            <a:off x="4041648" y="8842248"/>
            <a:ext cx="1207008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228" name="Text 226"/>
          <p:cNvSpPr/>
          <p:nvPr/>
        </p:nvSpPr>
        <p:spPr>
          <a:xfrm>
            <a:off x="4041648" y="8842248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29" name="Shape 227"/>
          <p:cNvSpPr/>
          <p:nvPr/>
        </p:nvSpPr>
        <p:spPr>
          <a:xfrm>
            <a:off x="5248656" y="8842248"/>
            <a:ext cx="1207008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230" name="Text 228"/>
          <p:cNvSpPr/>
          <p:nvPr/>
        </p:nvSpPr>
        <p:spPr>
          <a:xfrm>
            <a:off x="5248656" y="8842248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1" name="Shape 229"/>
          <p:cNvSpPr/>
          <p:nvPr/>
        </p:nvSpPr>
        <p:spPr>
          <a:xfrm>
            <a:off x="6455664" y="8842248"/>
            <a:ext cx="1207008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232" name="Text 230"/>
          <p:cNvSpPr/>
          <p:nvPr/>
        </p:nvSpPr>
        <p:spPr>
          <a:xfrm>
            <a:off x="6455664" y="8842248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3" name="Shape 231"/>
          <p:cNvSpPr/>
          <p:nvPr/>
        </p:nvSpPr>
        <p:spPr>
          <a:xfrm>
            <a:off x="7662672" y="8842248"/>
            <a:ext cx="1207008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234" name="Text 232"/>
          <p:cNvSpPr/>
          <p:nvPr/>
        </p:nvSpPr>
        <p:spPr>
          <a:xfrm>
            <a:off x="7662672" y="8842248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5" name="Shape 233"/>
          <p:cNvSpPr/>
          <p:nvPr/>
        </p:nvSpPr>
        <p:spPr>
          <a:xfrm>
            <a:off x="8869680" y="8842248"/>
            <a:ext cx="1207008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236" name="Text 234"/>
          <p:cNvSpPr/>
          <p:nvPr/>
        </p:nvSpPr>
        <p:spPr>
          <a:xfrm>
            <a:off x="8869680" y="8842248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7" name="Shape 235"/>
          <p:cNvSpPr/>
          <p:nvPr/>
        </p:nvSpPr>
        <p:spPr>
          <a:xfrm>
            <a:off x="10076688" y="8842248"/>
            <a:ext cx="1207008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238" name="Text 236"/>
          <p:cNvSpPr/>
          <p:nvPr/>
        </p:nvSpPr>
        <p:spPr>
          <a:xfrm>
            <a:off x="10076688" y="8842248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9" name="Shape 237"/>
          <p:cNvSpPr/>
          <p:nvPr/>
        </p:nvSpPr>
        <p:spPr>
          <a:xfrm>
            <a:off x="11283696" y="8842248"/>
            <a:ext cx="1207008" cy="347472"/>
          </a:xfrm>
          <a:prstGeom prst="rect">
            <a:avLst/>
          </a:prstGeom>
          <a:solidFill>
            <a:srgbClr val="F3F5F9"/>
          </a:solidFill>
          <a:ln w="3810">
            <a:solidFill>
              <a:srgbClr val="D0D5DD"/>
            </a:solidFill>
            <a:prstDash val="solid"/>
          </a:ln>
        </p:spPr>
      </p:sp>
      <p:sp>
        <p:nvSpPr>
          <p:cNvPr id="240" name="Text 238"/>
          <p:cNvSpPr/>
          <p:nvPr/>
        </p:nvSpPr>
        <p:spPr>
          <a:xfrm>
            <a:off x="11283696" y="8842248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41" name="Text 239"/>
          <p:cNvSpPr/>
          <p:nvPr/>
        </p:nvSpPr>
        <p:spPr>
          <a:xfrm>
            <a:off x="274320" y="9326880"/>
            <a:ext cx="1161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6A8F"/>
                </a:solidFill>
              </a:rPr>
              <a:t>✓</a:t>
            </a:r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</a:rPr>
              <a:t> = query demonstrated in this study.  </a:t>
            </a:r>
            <a:pPr indent="0" marL="0">
              <a:buNone/>
            </a:pPr>
            <a:r>
              <a:rPr lang="en-US" sz="1000" b="1" dirty="0">
                <a:solidFill>
                  <a:srgbClr val="D0D5DD"/>
                </a:solidFill>
              </a:rPr>
              <a:t>—</a:t>
            </a:r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</a:rPr>
              <a:t> = valid query, not shown (data available via API).  All </a:t>
            </a:r>
            <a:pPr indent="0" marL="0">
              <a:buNone/>
            </a:pPr>
            <a:r>
              <a:rPr lang="en-US" sz="900" i="1" dirty="0">
                <a:solidFill>
                  <a:srgbClr val="718096"/>
                </a:solidFill>
              </a:rPr>
              <a:t>filter × statistic</a:t>
            </a:r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</a:rPr>
              <a:t> combinations are supported.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2026-08-18T08:00:13Z</dcterms:created>
  <dcterms:modified xsi:type="dcterms:W3CDTF">2026-08-18T08:00:13Z</dcterms:modified>
</cp:coreProperties>
</file>
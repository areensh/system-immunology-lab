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9144000"/>
  <p:notesSz cx="9144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291840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 (Input)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E8F1F8"/>
          </a:solidFill>
          <a:ln w="12700">
            <a:solidFill>
              <a:srgbClr val="2D6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Level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study_title</a:t>
            </a:r>
            <a:pPr indent="0" marL="0">
              <a:buNone/>
            </a:pPr>
            <a:r>
              <a:rPr lang="en-US" sz="900" dirty="0">
                <a:solidFill>
                  <a:srgbClr val="4A5B70"/>
                </a:solidFill>
              </a:rPr>
              <a:t> — which database(s)   </a:t>
            </a:r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Relevant publications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EDF4E5"/>
          </a:solidFill>
          <a:ln w="12700">
            <a:solidFill>
              <a:srgbClr val="5B7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Level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disease_stage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B70"/>
                </a:solidFill>
              </a:rPr>
              <a:t> — e.g. severe, mild, healthy
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B70"/>
                </a:solidFill>
              </a:rPr>
              <a:t> — Male, Female  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minimum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B70"/>
                </a:solidFill>
              </a:rPr>
              <a:t> — numeric 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8F0E6"/>
          </a:solidFill>
          <a:ln w="12700">
            <a:solidFill>
              <a:srgbClr val="8C5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Level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01752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tissue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B70"/>
                </a:solidFill>
              </a:rPr>
              <a:t> — blood, PBL, BM    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cell_subset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B70"/>
                </a:solidFill>
              </a:rPr>
              <a:t> — naive B, memory B
</a:t>
            </a:r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C5A2E"/>
                </a:solidFill>
              </a:rPr>
              <a:t>→ Enables within-subject comparisons (e.g. blood vs BM, naive vs memory)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F3F5F9"/>
          </a:solidFill>
          <a:ln w="8890">
            <a:solidFill>
              <a:srgbClr val="D0D5D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filters are freely combinable. "ALL" = all non-NA entries.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11880" y="2240280"/>
            <a:ext cx="502920" cy="365760"/>
          </a:xfrm>
          <a:prstGeom prst="rightArrow">
            <a:avLst/>
          </a:prstGeom>
          <a:solidFill>
            <a:srgbClr val="2D6A8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594360"/>
            <a:ext cx="3474720" cy="347472"/>
          </a:xfrm>
          <a:prstGeom prst="roundRect">
            <a:avLst>
              <a:gd name="adj" fmla="val 18421"/>
            </a:avLst>
          </a:prstGeom>
          <a:solidFill>
            <a:srgbClr val="2D6A8F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594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IS-API v0.3.0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1051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ImmuneDB Instances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3258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325880"/>
            <a:ext cx="91440" cy="3840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CD1  (n=51)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3258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325880"/>
            <a:ext cx="9144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CD2  (n=19)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43400" y="17830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1783080"/>
            <a:ext cx="91440" cy="38404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CD3  (n=13)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17830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783080"/>
            <a:ext cx="91440" cy="384048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CVX1  (n=12)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22402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2240280"/>
            <a:ext cx="91440" cy="384048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CVX2  (n=5)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2402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2240280"/>
            <a:ext cx="9144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HC1  (n=6)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43400" y="269748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3F5F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2697480"/>
            <a:ext cx="91440" cy="384048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41" name="Text 39"/>
          <p:cNvSpPr/>
          <p:nvPr/>
        </p:nvSpPr>
        <p:spPr>
          <a:xfrm>
            <a:off x="4480560" y="2697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GT1  (n=15)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0624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subjects total (blood/PBL)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43400" y="3474720"/>
            <a:ext cx="3200400" cy="548640"/>
          </a:xfrm>
          <a:prstGeom prst="roundRect">
            <a:avLst>
              <a:gd name="adj" fmla="val 8333"/>
            </a:avLst>
          </a:prstGeom>
          <a:solidFill>
            <a:srgbClr val="E8F1F8"/>
          </a:solidFill>
          <a:ln w="8890">
            <a:solidFill>
              <a:srgbClr val="2D6A8F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43484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A5B70"/>
                </a:solidFill>
              </a:rPr>
              <a:t>• Queries all databases in parallel
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A5B70"/>
                </a:solidFill>
              </a:rPr>
              <a:t>• Filters by metadata key/value
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A5B70"/>
                </a:solidFill>
              </a:rPr>
              <a:t>• Returns unified JSON per subject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726680" y="2240280"/>
            <a:ext cx="502920" cy="365760"/>
          </a:xfrm>
          <a:prstGeom prst="rightArrow">
            <a:avLst/>
          </a:prstGeom>
          <a:solidFill>
            <a:srgbClr val="2D6A8F"/>
          </a:solidFill>
          <a:ln/>
        </p:spPr>
      </p:sp>
      <p:sp>
        <p:nvSpPr>
          <p:cNvPr id="46" name="Shape 44"/>
          <p:cNvSpPr/>
          <p:nvPr/>
        </p:nvSpPr>
        <p:spPr>
          <a:xfrm>
            <a:off x="8321040" y="594360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1A2744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594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Outputs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21040" y="1051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0768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Level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30768" y="130759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clone_count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# distinct clones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clone_size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unique seqs/clone (≥20)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topX_clone_size_copies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Top 10/100/1000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21040" y="201168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F0EAF5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30768" y="2057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CDR3 Level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30768" y="226771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topX_AA_AVG_CDR3_length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AA avg (top 10)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topX_nt_AVG_CDR3_length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nt avg (top 10)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27432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30768" y="2788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Level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430768" y="2999232"/>
            <a:ext cx="3346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topX_mutation_level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avg count (top 10)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mutation_by_region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CDR vs FWR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mutation_by_type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Replacement vs Silent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mutation_cdr_rs_ratio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70"/>
                </a:solidFill>
              </a:rPr>
              <a:t>  R/S ratio by region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2860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Capability Matrix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metadata filter combination can be paired with any statistical endpoint. Checkmarks indicate queries demonstrated in this study.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5029200"/>
            <a:ext cx="2560320" cy="43891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5029200"/>
            <a:ext cx="2560320" cy="4389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834640" y="5029200"/>
            <a:ext cx="1207008" cy="438912"/>
          </a:xfrm>
          <a:prstGeom prst="rect">
            <a:avLst/>
          </a:prstGeom>
          <a:solidFill>
            <a:srgbClr val="FFF3E0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0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041648" y="5029200"/>
            <a:ext cx="1207008" cy="438912"/>
          </a:xfrm>
          <a:prstGeom prst="rect">
            <a:avLst/>
          </a:prstGeom>
          <a:solidFill>
            <a:srgbClr val="FFF3E0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41648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48656" y="5029200"/>
            <a:ext cx="1207008" cy="438912"/>
          </a:xfrm>
          <a:prstGeom prst="rect">
            <a:avLst/>
          </a:prstGeom>
          <a:solidFill>
            <a:srgbClr val="FFF3E0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48656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55664" y="5029200"/>
            <a:ext cx="1207008" cy="438912"/>
          </a:xfrm>
          <a:prstGeom prst="rect">
            <a:avLst/>
          </a:prstGeom>
          <a:solidFill>
            <a:srgbClr val="F0EAF5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55664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662672" y="5029200"/>
            <a:ext cx="1207008" cy="438912"/>
          </a:xfrm>
          <a:prstGeom prst="rect">
            <a:avLst/>
          </a:prstGeom>
          <a:solidFill>
            <a:srgbClr val="E8F5E9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62672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869680" y="5029200"/>
            <a:ext cx="1207008" cy="438912"/>
          </a:xfrm>
          <a:prstGeom prst="rect">
            <a:avLst/>
          </a:prstGeom>
          <a:solidFill>
            <a:srgbClr val="E8F5E9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69680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vs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0076688" y="5029200"/>
            <a:ext cx="1207008" cy="438912"/>
          </a:xfrm>
          <a:prstGeom prst="rect">
            <a:avLst/>
          </a:prstGeom>
          <a:solidFill>
            <a:srgbClr val="E8F5E9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76688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vs 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1283696" y="5029200"/>
            <a:ext cx="1207008" cy="438912"/>
          </a:xfrm>
          <a:prstGeom prst="rect">
            <a:avLst/>
          </a:prstGeom>
          <a:solidFill>
            <a:srgbClr val="E8F5E9"/>
          </a:solidFill>
          <a:ln w="5080">
            <a:solidFill>
              <a:srgbClr val="D0D5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283696" y="5029200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5468112"/>
            <a:ext cx="2560320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5468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disease_stage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834640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34640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041648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41648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248656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48656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455664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55664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7662672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62672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8869680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69680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10076688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076688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11283696" y="5468112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283696" y="5468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274320" y="5815584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5760" y="5815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disease_stage + sex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834640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834640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4041648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041648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5248656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248656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6455664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55664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7662672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62672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8869680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69680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0076688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76688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11283696" y="5815584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1283696" y="581558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274320" y="6163056"/>
            <a:ext cx="2560320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65760" y="6163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disease_stage + age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834640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834640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4041648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041648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0" name="Shape 118"/>
          <p:cNvSpPr/>
          <p:nvPr/>
        </p:nvSpPr>
        <p:spPr>
          <a:xfrm>
            <a:off x="5248656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248656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2" name="Shape 120"/>
          <p:cNvSpPr/>
          <p:nvPr/>
        </p:nvSpPr>
        <p:spPr>
          <a:xfrm>
            <a:off x="6455664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455664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7662672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662672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6" name="Shape 124"/>
          <p:cNvSpPr/>
          <p:nvPr/>
        </p:nvSpPr>
        <p:spPr>
          <a:xfrm>
            <a:off x="8869680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9680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10076688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076688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11283696" y="6163056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1283696" y="616305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274320" y="6510528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65760" y="6510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tissue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2834640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834640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6" name="Shape 134"/>
          <p:cNvSpPr/>
          <p:nvPr/>
        </p:nvSpPr>
        <p:spPr>
          <a:xfrm>
            <a:off x="4041648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041648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8" name="Shape 136"/>
          <p:cNvSpPr/>
          <p:nvPr/>
        </p:nvSpPr>
        <p:spPr>
          <a:xfrm>
            <a:off x="5248656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248656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0" name="Shape 138"/>
          <p:cNvSpPr/>
          <p:nvPr/>
        </p:nvSpPr>
        <p:spPr>
          <a:xfrm>
            <a:off x="6455664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455664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2" name="Shape 140"/>
          <p:cNvSpPr/>
          <p:nvPr/>
        </p:nvSpPr>
        <p:spPr>
          <a:xfrm>
            <a:off x="7662672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662672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4" name="Shape 142"/>
          <p:cNvSpPr/>
          <p:nvPr/>
        </p:nvSpPr>
        <p:spPr>
          <a:xfrm>
            <a:off x="8869680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869680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6" name="Shape 144"/>
          <p:cNvSpPr/>
          <p:nvPr/>
        </p:nvSpPr>
        <p:spPr>
          <a:xfrm>
            <a:off x="10076688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076688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8" name="Shape 146"/>
          <p:cNvSpPr/>
          <p:nvPr/>
        </p:nvSpPr>
        <p:spPr>
          <a:xfrm>
            <a:off x="11283696" y="6510528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1283696" y="651052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0" name="Shape 148"/>
          <p:cNvSpPr/>
          <p:nvPr/>
        </p:nvSpPr>
        <p:spPr>
          <a:xfrm>
            <a:off x="274320" y="6858000"/>
            <a:ext cx="2560320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5760" y="6858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disease_stage + tissue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2834640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834640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4" name="Shape 152"/>
          <p:cNvSpPr/>
          <p:nvPr/>
        </p:nvSpPr>
        <p:spPr>
          <a:xfrm>
            <a:off x="4041648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041648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6" name="Shape 154"/>
          <p:cNvSpPr/>
          <p:nvPr/>
        </p:nvSpPr>
        <p:spPr>
          <a:xfrm>
            <a:off x="5248656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248656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8" name="Shape 156"/>
          <p:cNvSpPr/>
          <p:nvPr/>
        </p:nvSpPr>
        <p:spPr>
          <a:xfrm>
            <a:off x="6455664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455664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0" name="Shape 158"/>
          <p:cNvSpPr/>
          <p:nvPr/>
        </p:nvSpPr>
        <p:spPr>
          <a:xfrm>
            <a:off x="7662672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662672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2" name="Shape 160"/>
          <p:cNvSpPr/>
          <p:nvPr/>
        </p:nvSpPr>
        <p:spPr>
          <a:xfrm>
            <a:off x="8869680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869680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4" name="Shape 162"/>
          <p:cNvSpPr/>
          <p:nvPr/>
        </p:nvSpPr>
        <p:spPr>
          <a:xfrm>
            <a:off x="10076688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0076688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6" name="Shape 164"/>
          <p:cNvSpPr/>
          <p:nvPr/>
        </p:nvSpPr>
        <p:spPr>
          <a:xfrm>
            <a:off x="11283696" y="6858000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283696" y="68580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8" name="Shape 166"/>
          <p:cNvSpPr/>
          <p:nvPr/>
        </p:nvSpPr>
        <p:spPr>
          <a:xfrm>
            <a:off x="274320" y="7205472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65760" y="7205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 + sex + tissue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2834640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834640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2" name="Shape 170"/>
          <p:cNvSpPr/>
          <p:nvPr/>
        </p:nvSpPr>
        <p:spPr>
          <a:xfrm>
            <a:off x="4041648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041648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4" name="Shape 172"/>
          <p:cNvSpPr/>
          <p:nvPr/>
        </p:nvSpPr>
        <p:spPr>
          <a:xfrm>
            <a:off x="5248656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248656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6" name="Shape 174"/>
          <p:cNvSpPr/>
          <p:nvPr/>
        </p:nvSpPr>
        <p:spPr>
          <a:xfrm>
            <a:off x="6455664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455664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8" name="Shape 176"/>
          <p:cNvSpPr/>
          <p:nvPr/>
        </p:nvSpPr>
        <p:spPr>
          <a:xfrm>
            <a:off x="7662672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662672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8869680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869680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10076688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076688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11283696" y="7205472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1283696" y="72054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274320" y="7552944"/>
            <a:ext cx="2560320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65760" y="7552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 + age + tissue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2834640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834640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0" name="Shape 188"/>
          <p:cNvSpPr/>
          <p:nvPr/>
        </p:nvSpPr>
        <p:spPr>
          <a:xfrm>
            <a:off x="4041648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041648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5248656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248656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4" name="Shape 192"/>
          <p:cNvSpPr/>
          <p:nvPr/>
        </p:nvSpPr>
        <p:spPr>
          <a:xfrm>
            <a:off x="6455664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455664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6" name="Shape 194"/>
          <p:cNvSpPr/>
          <p:nvPr/>
        </p:nvSpPr>
        <p:spPr>
          <a:xfrm>
            <a:off x="7662672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662672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8" name="Shape 196"/>
          <p:cNvSpPr/>
          <p:nvPr/>
        </p:nvSpPr>
        <p:spPr>
          <a:xfrm>
            <a:off x="8869680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869680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10076688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0076688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11283696" y="7552944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1283696" y="755294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274320" y="7900416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65760" y="7900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study_title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2834640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2834640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8" name="Shape 206"/>
          <p:cNvSpPr/>
          <p:nvPr/>
        </p:nvSpPr>
        <p:spPr>
          <a:xfrm>
            <a:off x="4041648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041648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0" name="Shape 208"/>
          <p:cNvSpPr/>
          <p:nvPr/>
        </p:nvSpPr>
        <p:spPr>
          <a:xfrm>
            <a:off x="5248656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248656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2" name="Shape 210"/>
          <p:cNvSpPr/>
          <p:nvPr/>
        </p:nvSpPr>
        <p:spPr>
          <a:xfrm>
            <a:off x="6455664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455664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7662672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662672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6" name="Shape 214"/>
          <p:cNvSpPr/>
          <p:nvPr/>
        </p:nvSpPr>
        <p:spPr>
          <a:xfrm>
            <a:off x="8869680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8869680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8" name="Shape 216"/>
          <p:cNvSpPr/>
          <p:nvPr/>
        </p:nvSpPr>
        <p:spPr>
          <a:xfrm>
            <a:off x="10076688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10076688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0" name="Shape 218"/>
          <p:cNvSpPr/>
          <p:nvPr/>
        </p:nvSpPr>
        <p:spPr>
          <a:xfrm>
            <a:off x="11283696" y="7900416"/>
            <a:ext cx="12070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11283696" y="7900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2" name="Shape 220"/>
          <p:cNvSpPr/>
          <p:nvPr/>
        </p:nvSpPr>
        <p:spPr>
          <a:xfrm>
            <a:off x="274320" y="8247888"/>
            <a:ext cx="2560320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365760" y="8247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tissue (within subject)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2834640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2834640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6" name="Shape 224"/>
          <p:cNvSpPr/>
          <p:nvPr/>
        </p:nvSpPr>
        <p:spPr>
          <a:xfrm>
            <a:off x="4041648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041648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8" name="Shape 226"/>
          <p:cNvSpPr/>
          <p:nvPr/>
        </p:nvSpPr>
        <p:spPr>
          <a:xfrm>
            <a:off x="5248656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248656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0" name="Shape 228"/>
          <p:cNvSpPr/>
          <p:nvPr/>
        </p:nvSpPr>
        <p:spPr>
          <a:xfrm>
            <a:off x="6455664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455664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2" name="Shape 230"/>
          <p:cNvSpPr/>
          <p:nvPr/>
        </p:nvSpPr>
        <p:spPr>
          <a:xfrm>
            <a:off x="7662672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7662672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4" name="Shape 232"/>
          <p:cNvSpPr/>
          <p:nvPr/>
        </p:nvSpPr>
        <p:spPr>
          <a:xfrm>
            <a:off x="8869680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8869680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6" name="Shape 234"/>
          <p:cNvSpPr/>
          <p:nvPr/>
        </p:nvSpPr>
        <p:spPr>
          <a:xfrm>
            <a:off x="10076688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0076688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8" name="Shape 236"/>
          <p:cNvSpPr/>
          <p:nvPr/>
        </p:nvSpPr>
        <p:spPr>
          <a:xfrm>
            <a:off x="11283696" y="8247888"/>
            <a:ext cx="1207008" cy="347472"/>
          </a:xfrm>
          <a:prstGeom prst="rect">
            <a:avLst/>
          </a:prstGeom>
          <a:solidFill>
            <a:srgbClr val="F3F5F9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1283696" y="82478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0" name="Text 238"/>
          <p:cNvSpPr/>
          <p:nvPr/>
        </p:nvSpPr>
        <p:spPr>
          <a:xfrm>
            <a:off x="274320" y="873252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8F"/>
                </a:solidFill>
              </a:rPr>
              <a:t>✓</a:t>
            </a:r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 = query demonstrated in this study.  </a:t>
            </a:r>
            <a:pPr indent="0" marL="0">
              <a:buNone/>
            </a:pPr>
            <a:r>
              <a:rPr lang="en-US" sz="1000" b="1" dirty="0">
                <a:solidFill>
                  <a:srgbClr val="D0D5DD"/>
                </a:solidFill>
              </a:rPr>
              <a:t>—</a:t>
            </a:r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 = valid query, not shown (data available via API).  All </a:t>
            </a:r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filter × statistic</a:t>
            </a:r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 combinations are supported.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2026-08-18T03:37:11Z</dcterms:created>
  <dcterms:modified xsi:type="dcterms:W3CDTF">2026-08-18T03:37:11Z</dcterms:modified>
</cp:coreProperties>
</file>
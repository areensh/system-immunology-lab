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27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IS-API v0.3.0 — Query Architecture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274320" y="777240"/>
            <a:ext cx="3474720" cy="411480"/>
          </a:xfrm>
          <a:prstGeom prst="roundRect">
            <a:avLst>
              <a:gd name="adj" fmla="val 17778"/>
            </a:avLst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777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Filters (Input)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74320" y="1371600"/>
            <a:ext cx="3474720" cy="1051560"/>
          </a:xfrm>
          <a:prstGeom prst="roundRect">
            <a:avLst>
              <a:gd name="adj" fmla="val 6957"/>
            </a:avLst>
          </a:prstGeom>
          <a:solidFill>
            <a:srgbClr val="E8F1F8"/>
          </a:solidFill>
          <a:ln w="15240">
            <a:solidFill>
              <a:srgbClr val="2D6A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4447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Level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71907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study_title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70"/>
                </a:solidFill>
              </a:rPr>
              <a:t>  — which database(s) to query</a:t>
            </a:r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Relevant publications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70"/>
                </a:solidFill>
              </a:rPr>
              <a:t>  — source study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260604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EDF4E5"/>
          </a:solidFill>
          <a:ln w="15240">
            <a:solidFill>
              <a:srgbClr val="5B7C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26791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7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Level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95351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disease_stage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70"/>
                </a:solidFill>
              </a:rPr>
              <a:t>  — e.g. severe, mild, healthy</a:t>
            </a:r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sex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70"/>
                </a:solidFill>
              </a:rPr>
              <a:t>  — Male, Female</a:t>
            </a:r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minimum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70"/>
                </a:solidFill>
              </a:rPr>
              <a:t>  — numeric age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4114800"/>
            <a:ext cx="3474720" cy="1325880"/>
          </a:xfrm>
          <a:prstGeom prst="roundRect">
            <a:avLst>
              <a:gd name="adj" fmla="val 5517"/>
            </a:avLst>
          </a:prstGeom>
          <a:solidFill>
            <a:srgbClr val="F8F0E6"/>
          </a:solidFill>
          <a:ln w="15240">
            <a:solidFill>
              <a:srgbClr val="8C5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4187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C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Level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46227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tissue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70"/>
                </a:solidFill>
              </a:rPr>
              <a:t>  — blood, PBL, BM</a:t>
            </a:r>
            <a:pPr indent="0" marL="0">
              <a:lnSpc>
                <a:spcPct val="120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cell_subset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70"/>
                </a:solidFill>
              </a:rPr>
              <a:t>  — e.g. naive B, memory 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" y="4983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within-subject</a:t>
            </a:r>
            <a:endParaRPr lang="en-US" sz="900" dirty="0"/>
          </a:p>
          <a:p>
            <a:pPr indent="0" marL="0">
              <a:buNone/>
            </a:pPr>
            <a:r>
              <a:rPr lang="en-US" sz="900" i="1" dirty="0">
                <a:solidFill>
                  <a:srgbClr val="8C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comparisons (e.g. blood vs BM)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" y="5623560"/>
            <a:ext cx="3474720" cy="502920"/>
          </a:xfrm>
          <a:prstGeom prst="roundRect">
            <a:avLst>
              <a:gd name="adj" fmla="val 10909"/>
            </a:avLst>
          </a:prstGeom>
          <a:solidFill>
            <a:srgbClr val="F3F5F9"/>
          </a:solidFill>
          <a:ln w="10160">
            <a:solidFill>
              <a:srgbClr val="D0D5D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65760" y="56235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A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filters are freely combinable.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4A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value to "ALL" to include all non-NA entries.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794760" y="3108960"/>
            <a:ext cx="411480" cy="320040"/>
          </a:xfrm>
          <a:prstGeom prst="rightArrow">
            <a:avLst/>
          </a:prstGeom>
          <a:solidFill>
            <a:srgbClr val="2D6A8F"/>
          </a:solidFill>
          <a:ln/>
        </p:spPr>
      </p:sp>
      <p:sp>
        <p:nvSpPr>
          <p:cNvPr id="18" name="Shape 16"/>
          <p:cNvSpPr/>
          <p:nvPr/>
        </p:nvSpPr>
        <p:spPr>
          <a:xfrm>
            <a:off x="4251960" y="777240"/>
            <a:ext cx="3474720" cy="411480"/>
          </a:xfrm>
          <a:prstGeom prst="roundRect">
            <a:avLst>
              <a:gd name="adj" fmla="val 17778"/>
            </a:avLst>
          </a:prstGeom>
          <a:solidFill>
            <a:srgbClr val="2D6A8F"/>
          </a:solidFill>
          <a:ln/>
        </p:spPr>
      </p:sp>
      <p:sp>
        <p:nvSpPr>
          <p:cNvPr id="19" name="Text 17"/>
          <p:cNvSpPr/>
          <p:nvPr/>
        </p:nvSpPr>
        <p:spPr>
          <a:xfrm>
            <a:off x="4251960" y="777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IS-API v0.3.0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251960" y="13258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ImmuneDB Instances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0" y="1645920"/>
            <a:ext cx="109728" cy="50292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2" name="Shape 20"/>
          <p:cNvSpPr/>
          <p:nvPr/>
        </p:nvSpPr>
        <p:spPr>
          <a:xfrm>
            <a:off x="4389120" y="164592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F3F5F9"/>
          </a:solidFill>
          <a:ln w="7620">
            <a:solidFill>
              <a:srgbClr val="D0D5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53712" y="190195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n=51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080760" y="1645920"/>
            <a:ext cx="109728" cy="50292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6" name="Shape 24"/>
          <p:cNvSpPr/>
          <p:nvPr/>
        </p:nvSpPr>
        <p:spPr>
          <a:xfrm>
            <a:off x="6080760" y="164592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F3F5F9"/>
          </a:solidFill>
          <a:ln w="7620">
            <a:solidFill>
              <a:srgbClr val="D0D5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45352" y="167335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45352" y="190195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n=19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389120" y="2240280"/>
            <a:ext cx="109728" cy="5029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Shape 28"/>
          <p:cNvSpPr/>
          <p:nvPr/>
        </p:nvSpPr>
        <p:spPr>
          <a:xfrm>
            <a:off x="4389120" y="2240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F3F5F9"/>
          </a:solidFill>
          <a:ln w="7620">
            <a:solidFill>
              <a:srgbClr val="D0D5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53712" y="226771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53712" y="249631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n=13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080760" y="2240280"/>
            <a:ext cx="109728" cy="502920"/>
          </a:xfrm>
          <a:prstGeom prst="rect">
            <a:avLst/>
          </a:prstGeom>
          <a:solidFill>
            <a:srgbClr val="7E57C2"/>
          </a:solidFill>
          <a:ln/>
        </p:spPr>
      </p:sp>
      <p:sp>
        <p:nvSpPr>
          <p:cNvPr id="34" name="Shape 32"/>
          <p:cNvSpPr/>
          <p:nvPr/>
        </p:nvSpPr>
        <p:spPr>
          <a:xfrm>
            <a:off x="6080760" y="2240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F3F5F9"/>
          </a:solidFill>
          <a:ln w="7620">
            <a:solidFill>
              <a:srgbClr val="D0D5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45352" y="226771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45352" y="249631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n=12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389120" y="2834640"/>
            <a:ext cx="109728" cy="502920"/>
          </a:xfrm>
          <a:prstGeom prst="rect">
            <a:avLst/>
          </a:prstGeom>
          <a:solidFill>
            <a:srgbClr val="9467BD"/>
          </a:solidFill>
          <a:ln/>
        </p:spPr>
      </p:sp>
      <p:sp>
        <p:nvSpPr>
          <p:cNvPr id="38" name="Shape 36"/>
          <p:cNvSpPr/>
          <p:nvPr/>
        </p:nvSpPr>
        <p:spPr>
          <a:xfrm>
            <a:off x="4389120" y="283464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F3F5F9"/>
          </a:solidFill>
          <a:ln w="7620">
            <a:solidFill>
              <a:srgbClr val="D0D5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53712" y="286207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CVX2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53712" y="30906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n=5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080760" y="2834640"/>
            <a:ext cx="109728" cy="5029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2" name="Shape 40"/>
          <p:cNvSpPr/>
          <p:nvPr/>
        </p:nvSpPr>
        <p:spPr>
          <a:xfrm>
            <a:off x="6080760" y="283464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F3F5F9"/>
          </a:solidFill>
          <a:ln w="7620">
            <a:solidFill>
              <a:srgbClr val="D0D5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45352" y="286207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HC1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245352" y="30906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n=6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389120" y="3429000"/>
            <a:ext cx="109728" cy="502920"/>
          </a:xfrm>
          <a:prstGeom prst="rect">
            <a:avLst/>
          </a:prstGeom>
          <a:solidFill>
            <a:srgbClr val="78909C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9120" y="342900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F3F5F9"/>
          </a:solidFill>
          <a:ln w="7620">
            <a:solidFill>
              <a:srgbClr val="D0D5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53712" y="345643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GT1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553712" y="368503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n=15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251960" y="4069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 subjects total (blood/PBL)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4434840" y="4434840"/>
            <a:ext cx="3108960" cy="960120"/>
          </a:xfrm>
          <a:prstGeom prst="roundRect">
            <a:avLst>
              <a:gd name="adj" fmla="val 5714"/>
            </a:avLst>
          </a:prstGeom>
          <a:solidFill>
            <a:srgbClr val="E8F1F8"/>
          </a:solidFill>
          <a:ln w="10160">
            <a:solidFill>
              <a:srgbClr val="2D6A8F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4526280" y="44805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6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26280" y="47091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B70"/>
                </a:solidFill>
              </a:rPr>
              <a:t>• Queries all databases in parallel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B70"/>
                </a:solidFill>
              </a:rPr>
              <a:t>• Filters by metadata key/value pairs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B70"/>
                </a:solidFill>
              </a:rPr>
              <a:t>• Groups results per subject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B70"/>
                </a:solidFill>
              </a:rPr>
              <a:t>• Returns unified JSON response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818120" y="3108960"/>
            <a:ext cx="411480" cy="320040"/>
          </a:xfrm>
          <a:prstGeom prst="rightArrow">
            <a:avLst/>
          </a:prstGeom>
          <a:solidFill>
            <a:srgbClr val="2D6A8F"/>
          </a:solidFill>
          <a:ln/>
        </p:spPr>
      </p:sp>
      <p:sp>
        <p:nvSpPr>
          <p:cNvPr id="54" name="Shape 52"/>
          <p:cNvSpPr/>
          <p:nvPr/>
        </p:nvSpPr>
        <p:spPr>
          <a:xfrm>
            <a:off x="8321040" y="777240"/>
            <a:ext cx="3474720" cy="411480"/>
          </a:xfrm>
          <a:prstGeom prst="roundRect">
            <a:avLst>
              <a:gd name="adj" fmla="val 17778"/>
            </a:avLst>
          </a:prstGeom>
          <a:solidFill>
            <a:srgbClr val="1A2744"/>
          </a:solidFill>
          <a:ln/>
        </p:spPr>
      </p:sp>
      <p:sp>
        <p:nvSpPr>
          <p:cNvPr id="55" name="Text 53"/>
          <p:cNvSpPr/>
          <p:nvPr/>
        </p:nvSpPr>
        <p:spPr>
          <a:xfrm>
            <a:off x="8321040" y="777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Outputs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321040" y="1371600"/>
            <a:ext cx="3474720" cy="1234440"/>
          </a:xfrm>
          <a:prstGeom prst="roundRect">
            <a:avLst>
              <a:gd name="adj" fmla="val 5926"/>
            </a:avLst>
          </a:prstGeom>
          <a:solidFill>
            <a:srgbClr val="FFF3E0"/>
          </a:solidFill>
          <a:ln w="15240">
            <a:solidFill>
              <a:srgbClr val="E651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458200" y="144475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Level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8458200" y="166420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clone_count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70"/>
                </a:solidFill>
              </a:rPr>
              <a:t>
  # distinct clones per subject
</a:t>
            </a:r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clone_size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70"/>
                </a:solidFill>
              </a:rPr>
              <a:t>
  unique seqs per clone (≥20 threshold)
</a:t>
            </a:r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topX_clone_size_copies</a:t>
            </a:r>
            <a:pPr indent="0" marL="0">
              <a:lnSpc>
                <a:spcPct val="105000"/>
              </a:lnSpc>
              <a:buNone/>
            </a:pP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70"/>
                </a:solidFill>
              </a:rPr>
              <a:t>  Top 10/100/1000 cumulative copies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321040" y="2788920"/>
            <a:ext cx="3474720" cy="960120"/>
          </a:xfrm>
          <a:prstGeom prst="roundRect">
            <a:avLst>
              <a:gd name="adj" fmla="val 7619"/>
            </a:avLst>
          </a:prstGeom>
          <a:solidFill>
            <a:srgbClr val="F0EAF5"/>
          </a:solidFill>
          <a:ln w="15240">
            <a:solidFill>
              <a:srgbClr val="6B4C8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58200" y="28620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4C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CDR3 Level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8458200" y="308152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topX_AA_AVG_CDR3_length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70"/>
                </a:solidFill>
              </a:rPr>
              <a:t>
  avg amino acid CDR3 length (top 10 clones)
</a:t>
            </a:r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topX_nt_AVG_CDR3_length</a:t>
            </a:r>
            <a:pPr indent="0" marL="0">
              <a:lnSpc>
                <a:spcPct val="105000"/>
              </a:lnSpc>
              <a:buNone/>
            </a:pP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70"/>
                </a:solidFill>
              </a:rPr>
              <a:t>  avg nucleotide CDR3 length (top 10 clones)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8321040" y="3931920"/>
            <a:ext cx="3474720" cy="1691640"/>
          </a:xfrm>
          <a:prstGeom prst="roundRect">
            <a:avLst>
              <a:gd name="adj" fmla="val 4324"/>
            </a:avLst>
          </a:prstGeom>
          <a:solidFill>
            <a:srgbClr val="E8F5E9"/>
          </a:solidFill>
          <a:ln w="15240">
            <a:solidFill>
              <a:srgbClr val="388E3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58200" y="40050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8E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 Level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8458200" y="4224528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topX_mutation_level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70"/>
                </a:solidFill>
              </a:rPr>
              <a:t>
  avg mutation count (top 10 clones)
</a:t>
            </a:r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mutation_by_region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70"/>
                </a:solidFill>
              </a:rPr>
              <a:t>
  CDR vs FWR mutation counts
</a:t>
            </a:r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mutation_by_type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70"/>
                </a:solidFill>
              </a:rPr>
              <a:t>
  Replacement vs Silent counts
</a:t>
            </a:r>
            <a:pPr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mutation_cdr_rs_ratio</a:t>
            </a:r>
            <a:pPr indent="0" marL="0">
              <a:lnSpc>
                <a:spcPct val="105000"/>
              </a:lnSpc>
              <a:buNone/>
            </a:pP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4A5B70"/>
                </a:solidFill>
              </a:rPr>
              <a:t>  R/S ratio for CDR and FWR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365760" y="6263640"/>
            <a:ext cx="11430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combination of metadata filters × statistical output is a valid query. Results are returned per subject in a unified JSON schema across all databases.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2026-08-17T04:07:48Z</dcterms:created>
  <dcterms:modified xsi:type="dcterms:W3CDTF">2026-08-17T04:07:48Z</dcterms:modified>
</cp:coreProperties>
</file>
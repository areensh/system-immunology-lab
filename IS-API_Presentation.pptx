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 v0.3.0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RESTful Statistics API for Cross-Study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Repertoire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BCR Repertoire Use Case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Immunology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Heterogeneity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1737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AIRR-seq studies use different metadata schemas, disease labels, and tissue types across repositories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8288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Cross-Study Statistics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(iReceptor, VDJServer) focus on sequence storage and retrieval, not comparative analysis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Harmonization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must manually reconcile metadata before any cross-study comparison is possible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84632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0F4F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983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82880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Gap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303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analysis pipelines make it difficult to replicate findings across different cohorts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IS-API: 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RESTful API built on ImmuneDB that enables standardized cross-study BCR analysis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50292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0" y="17373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621792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Metadata-Driven Filtering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217920" y="2057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by disease stage, tissue, sex, age across all databases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852160" y="26517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0" y="2651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Statistical Endpoints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17920" y="2971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count, clone size, CDR3 length, somatic mutations, Top-X analysis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52160" y="35661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621792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ImmuneDB Instances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21792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COVID-19, vaccine, healthy, and transplant cohorts unified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852160" y="4480560"/>
            <a:ext cx="137160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4480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Output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217920" y="4800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responses for programmatic downstream analysis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Cohort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61120" y="1097280"/>
            <a:ext cx="23774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0" y="1143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611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651760"/>
            <a:ext cx="5669280" cy="36576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217920" y="2788920"/>
            <a:ext cx="73152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949440" y="2788920"/>
            <a:ext cx="219456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0" y="2788920"/>
            <a:ext cx="45720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601200" y="2788920"/>
            <a:ext cx="2560320" cy="365760"/>
          </a:xfrm>
          <a:prstGeom prst="rect">
            <a:avLst/>
          </a:prstGeom>
          <a:solidFill>
            <a:srgbClr val="028090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217920" y="3172968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949440" y="3172968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Covid19_db3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144000" y="3172968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172968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Mild, Severe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17920" y="3557016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CD2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949440" y="3557016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covid_db2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144000" y="3557016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601200" y="3557016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Severe, Moderate, Recovered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3941064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CD3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49440" y="3941064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144000" y="3941064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601200" y="3941064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Mild, Severe, Healthy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217920" y="4325112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49440" y="4325112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vaccine2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144000" y="4325112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601200" y="4325112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Naive, Recovered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217920" y="4709160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CVX2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949440" y="4709160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covid_vaccine_new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144000" y="4709160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9601200" y="4709160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217920" y="5093208"/>
            <a:ext cx="7315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949440" y="5093208"/>
            <a:ext cx="219456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lp16_Igblast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9144000" y="5093208"/>
            <a:ext cx="45720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01200" y="5093208"/>
            <a:ext cx="2560320" cy="36576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217920" y="5477256"/>
            <a:ext cx="7315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GT1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949440" y="5477256"/>
            <a:ext cx="219456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sykesIgblast2020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44000" y="5477256"/>
            <a:ext cx="4572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01200" y="5477256"/>
            <a:ext cx="256032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50800" rIns="508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 (excluded)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Stage Harmonization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original disease labels → 6 harmonized categories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371600"/>
            <a:ext cx="5943600" cy="32918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943600" cy="3291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Disease Labels by Dataset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21792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Harmonized Categories with Original Label Breakdown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Exclusions: 3 HC1 subjects (no age/sex), 2 CVX2 controls, GT1 transplant cohort. Blood/PBL tissue only.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Participant Demographics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7724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03920" y="1188720"/>
            <a:ext cx="3200400" cy="4114800"/>
          </a:xfrm>
          <a:prstGeom prst="roundRect">
            <a:avLst>
              <a:gd name="adj" fmla="val 4286"/>
            </a:avLst>
          </a:prstGeom>
          <a:solidFill>
            <a:srgbClr val="F0F4F8"/>
          </a:solidFill>
          <a:ln/>
        </p:spPr>
      </p:sp>
      <p:sp>
        <p:nvSpPr>
          <p:cNvPr id="5" name="Text 2"/>
          <p:cNvSpPr/>
          <p:nvPr/>
        </p:nvSpPr>
        <p:spPr>
          <a:xfrm>
            <a:off x="868680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Demographics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0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range: 18–87 years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0" y="24231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Male, 34 Female, 14 NA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0" y="2926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age: 48 years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0" y="3429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 dominates Severe &amp; Mild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0" y="39319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 = all COVID Naive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0" y="4434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= all Healthy controls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Distribution by Sex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Category by Sex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× Age Group × Sex Heatmap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distribution is relatively balanced across most disease categories. Severe COVID shows a slight male predominance. The heatmap reveals that most subjects are concentrated in the 40–70 age range, with sex-specific patterns varying by disease severity.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 Distribution by Disease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by Disease Category (Boxplot)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Categories by Age Group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COVID patients trend older (median ~55) compared to Mild cases (median ~45). COVID Naive subjects are younger on average, consistent with vaccine trial demographics. Age distribution across disease categories highlights potential confounding that must be considered in repertoire comparisons.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Size Distribution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sequences per clone (clones with ≥20 unique sequences)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shows highest median clone size and widest distribution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743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has the heaviest upper tail (max ~8,600 unique sequences)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383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shows most heterogeneous pattern across subjects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(HC1) has compact distribution, consistent with diverse unexpanded repertoire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groups show right-skewed distributions on log scale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Count by Disease Category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distinct clones per subject across disease severities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count reflects B cell diversity within each subject's repertoire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834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COVID patients show variable clone counts, reflecting heterogeneous immune responses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566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controls (HC1) show consistently lower clone counts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297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clone counts in Mild/Recovered may indicate broader polyclonal activation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Expanded Clones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Expanded Clones (&gt;100 unique seqs)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Size of Expanded Clones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clones (&gt;100 unique sequences) represent antigen-driven clonal expansion. Severe and COVID Naive groups show the highest expansion counts, while expanded clone size reveals the magnitude of individual clonal responses.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Replacement/Silent Mutation Ratio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R/S ratio as a measure of antigen-driven selection pressure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371600"/>
            <a:ext cx="4206240" cy="4389120"/>
          </a:xfrm>
          <a:prstGeom prst="roundRect">
            <a:avLst>
              <a:gd name="adj" fmla="val 3261"/>
            </a:avLst>
          </a:prstGeom>
          <a:solidFill>
            <a:srgbClr val="F0F4F8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R/S ratio &gt; 1 indicates positive selection — replacement mutations are favored over silent ones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680960" y="2834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R/S in CDR regions vs framework reflects antigen-driven selection in binding sites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566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and Recovered groups show elevated R/S ratios consistent with affinity maturation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80960" y="4297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controls show baseline R/S levels expected for unselected repertoires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Somatic Hypermutation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Count (Top 10 Clones)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 Region Mutations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counts represent unique nucleotide positions differing from germline. Higher mutation in COVID Naive and Recovered groups suggests mature, affinity-selected B cell responses. CDR mutations indicate antigen-driven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CDR3 Length Analysis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486400" cy="36576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657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 (Top 10 Clones, AA)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126480" y="47548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 Range per Subject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31520" y="512064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5212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lengths are relatively consistent across disease categories (~15–16 AA for top clones), suggesting the overall structural constraints on antigen binding are preserved. Greater CDR3 range diversity is observed in COVID Naive and Recovered groups.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&amp; Conclusions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444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enables cross-study analysis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harmonized 103 subjects across 7 databases with 6 disease categories through metadata-driven filtering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514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587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severity shapes BCR repertoire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971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differences in clone size, mutation burden, and CDR3 diversity across COVID-19 severity groups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30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Naive shows distinct expansion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114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clonal expansion and mutation counts, suggesting pre-existing mature memory B cell responses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1E3158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4800600"/>
            <a:ext cx="109728" cy="9601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73752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API reduces barriers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5257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analysis pipeline replacing manual harmonization, enabling broader immunological studies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v0.3.0  |  System Immunology 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2026-08-11T08:43:27Z</dcterms:created>
  <dcterms:modified xsi:type="dcterms:W3CDTF">2026-08-11T08:43:27Z</dcterms:modified>
</cp:coreProperties>
</file>
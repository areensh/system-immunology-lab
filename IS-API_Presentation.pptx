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IS-API v0.3.0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RESTful Statistics API for Cross-Study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Repertoire Analysis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3474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COVID-19 BCR Repertoire Use Case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5029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Immunology Lab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Challenge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F0F4F8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417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🧬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82880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Heterogeneity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828800" y="17373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AIRR-seq studies use different metadata schemas, disease labels, and tissue types across repositories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F0F4F8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82880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Cross-Study Statistics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828800" y="2926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tools (iReceptor, VDJServer) focus on sequence storage and retrieval, not comparative analysis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F0F4F8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3794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828800" y="3749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Harmonization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828800" y="4114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Researchers must manually reconcile metadata before any cross-study comparison is possible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84632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F0F4F8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4983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⏱️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828800" y="4937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Gap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828800" y="5303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analysis pipelines make it difficult to replicate findings across different cohorts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IS-API: The Solution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RESTful API built on ImmuneDB that enables standardized cross-study BCR analysis</a:t>
            </a:r>
            <a:endParaRPr lang="en-US" sz="1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0"/>
            <a:ext cx="50292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52160" y="1737360"/>
            <a:ext cx="137160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3"/>
          <p:cNvSpPr/>
          <p:nvPr/>
        </p:nvSpPr>
        <p:spPr>
          <a:xfrm>
            <a:off x="6217920" y="1737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Metadata-Driven Filtering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217920" y="2057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by disease stage, tissue, sex, age across all databases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852160" y="2651760"/>
            <a:ext cx="137160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0" y="2651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Statistical Endpoints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17920" y="2971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count, clone size, CDR3 length, somatic mutations, Top-X analysis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852160" y="3566160"/>
            <a:ext cx="137160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9"/>
          <p:cNvSpPr/>
          <p:nvPr/>
        </p:nvSpPr>
        <p:spPr>
          <a:xfrm>
            <a:off x="6217920" y="35661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ImmuneDB Instances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217920" y="38862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COVID-19, vaccine, healthy, and transplant cohorts unified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852160" y="4480560"/>
            <a:ext cx="137160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0" y="44805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Output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217920" y="4800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responses for programmatic downstream analysis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Study Cohort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2377440" cy="1280160"/>
          </a:xfrm>
          <a:prstGeom prst="roundRect">
            <a:avLst>
              <a:gd name="adj" fmla="val 7143"/>
            </a:avLst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430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474720" y="1097280"/>
            <a:ext cx="23774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0" y="11430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47472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097280"/>
            <a:ext cx="23774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0" y="11430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21792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61120" y="1097280"/>
            <a:ext cx="23774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0" y="11430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96112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13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651760"/>
            <a:ext cx="5669280" cy="36576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217920" y="2788920"/>
            <a:ext cx="731520" cy="365760"/>
          </a:xfrm>
          <a:prstGeom prst="rect">
            <a:avLst/>
          </a:prstGeom>
          <a:solidFill>
            <a:srgbClr val="028090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949440" y="2788920"/>
            <a:ext cx="2194560" cy="365760"/>
          </a:xfrm>
          <a:prstGeom prst="rect">
            <a:avLst/>
          </a:prstGeom>
          <a:solidFill>
            <a:srgbClr val="028090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144000" y="2788920"/>
            <a:ext cx="457200" cy="365760"/>
          </a:xfrm>
          <a:prstGeom prst="rect">
            <a:avLst/>
          </a:prstGeom>
          <a:solidFill>
            <a:srgbClr val="028090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9601200" y="2788920"/>
            <a:ext cx="2560320" cy="365760"/>
          </a:xfrm>
          <a:prstGeom prst="rect">
            <a:avLst/>
          </a:prstGeom>
          <a:solidFill>
            <a:srgbClr val="028090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217920" y="3172968"/>
            <a:ext cx="7315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CD1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949440" y="3172968"/>
            <a:ext cx="219456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Covid19_db3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144000" y="3172968"/>
            <a:ext cx="4572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172968"/>
            <a:ext cx="25603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Mild, Severe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217920" y="3557016"/>
            <a:ext cx="73152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CD2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949440" y="3557016"/>
            <a:ext cx="219456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covid_db2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9144000" y="3557016"/>
            <a:ext cx="45720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9601200" y="3557016"/>
            <a:ext cx="256032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Severe, Moderate, Recovered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217920" y="3941064"/>
            <a:ext cx="7315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CD3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949440" y="3941064"/>
            <a:ext cx="219456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covid19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9144000" y="3941064"/>
            <a:ext cx="4572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9601200" y="3941064"/>
            <a:ext cx="25603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Mild, Severe, Healthy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217920" y="4325112"/>
            <a:ext cx="73152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CVX1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6949440" y="4325112"/>
            <a:ext cx="219456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vaccine2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9144000" y="4325112"/>
            <a:ext cx="45720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9601200" y="4325112"/>
            <a:ext cx="256032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Naive, Recovered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217920" y="4709160"/>
            <a:ext cx="7315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CVX2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6949440" y="4709160"/>
            <a:ext cx="219456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covid_vaccine_new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9144000" y="4709160"/>
            <a:ext cx="4572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9601200" y="4709160"/>
            <a:ext cx="25603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6217920" y="5093208"/>
            <a:ext cx="73152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HC1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6949440" y="5093208"/>
            <a:ext cx="219456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lp16_Igblast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9144000" y="5093208"/>
            <a:ext cx="45720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9601200" y="5093208"/>
            <a:ext cx="256032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6217920" y="5477256"/>
            <a:ext cx="7315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GT1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6949440" y="5477256"/>
            <a:ext cx="219456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sykesIgblast2020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9144000" y="5477256"/>
            <a:ext cx="4572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9601200" y="5477256"/>
            <a:ext cx="25603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 (excluded)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Disease Stage Harmonization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original disease labels → 6 harmonized categories</a:t>
            </a:r>
            <a:endParaRPr lang="en-US" sz="1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371600"/>
            <a:ext cx="5943600" cy="329184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71600"/>
            <a:ext cx="5943600" cy="32918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Disease Labels by Dataset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621792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Harmonized Categories with Original Label Breakdown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731520" y="5212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Exclusions: 3 HC1 subjects (no age/sex), 2 CVX2 controls, GT1 transplant cohort. Blood/PBL tissue only.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Participant Demographics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7724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03920" y="1188720"/>
            <a:ext cx="3200400" cy="4114800"/>
          </a:xfrm>
          <a:prstGeom prst="roundRect">
            <a:avLst>
              <a:gd name="adj" fmla="val 4286"/>
            </a:avLst>
          </a:prstGeom>
          <a:solidFill>
            <a:srgbClr val="F0F4F8"/>
          </a:solidFill>
          <a:ln/>
        </p:spPr>
      </p:sp>
      <p:sp>
        <p:nvSpPr>
          <p:cNvPr id="5" name="Text 2"/>
          <p:cNvSpPr/>
          <p:nvPr/>
        </p:nvSpPr>
        <p:spPr>
          <a:xfrm>
            <a:off x="8686800" y="1371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Demographics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686800" y="19202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range: 18–87 years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686800" y="24231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Male, 34 Female, 14 NA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0" y="29260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age: 48 years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0" y="34290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CD1 dominates Severe &amp; Mild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0" y="39319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CVX1 = all COVID Naive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86800" y="44348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HC1 = all Healthy controls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Clone Size Distribution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sequences per clone (clones with ≥20 unique sequences)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0"/>
            <a:ext cx="68580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98080" y="1371600"/>
            <a:ext cx="4206240" cy="4389120"/>
          </a:xfrm>
          <a:prstGeom prst="roundRect">
            <a:avLst>
              <a:gd name="adj" fmla="val 3261"/>
            </a:avLst>
          </a:prstGeom>
          <a:solidFill>
            <a:srgbClr val="F0F4F8"/>
          </a:solidFill>
          <a:ln/>
        </p:spPr>
      </p:sp>
      <p:sp>
        <p:nvSpPr>
          <p:cNvPr id="6" name="Text 3"/>
          <p:cNvSpPr/>
          <p:nvPr/>
        </p:nvSpPr>
        <p:spPr>
          <a:xfrm>
            <a:off x="7680960" y="1554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680960" y="21031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Naive shows highest median clone size and widest distribution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680960" y="27432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has the heaviest upper tail (max ~8,600 unique sequences)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680960" y="3383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shows most heterogeneous pattern across subjects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68096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(HC1) has compact distribution, consistent with diverse unexpanded repertoire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680960" y="46634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groups show right-skewed distributions on log scale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Clone Count by Disease Category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distinct clones per subject across disease severities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0"/>
            <a:ext cx="68580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98080" y="1371600"/>
            <a:ext cx="4206240" cy="4389120"/>
          </a:xfrm>
          <a:prstGeom prst="roundRect">
            <a:avLst>
              <a:gd name="adj" fmla="val 3261"/>
            </a:avLst>
          </a:prstGeom>
          <a:solidFill>
            <a:srgbClr val="F0F4F8"/>
          </a:solidFill>
          <a:ln/>
        </p:spPr>
      </p:sp>
      <p:sp>
        <p:nvSpPr>
          <p:cNvPr id="6" name="Text 3"/>
          <p:cNvSpPr/>
          <p:nvPr/>
        </p:nvSpPr>
        <p:spPr>
          <a:xfrm>
            <a:off x="7680960" y="1554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680960" y="21031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count reflects B cell diversity within each subject's repertoire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680960" y="28346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COVID patients show variable clone counts, reflecting heterogeneous immune responses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680960" y="35661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controls (HC1) show consistently lower clone counts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680960" y="42976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clone counts in Mild/Recovered may indicate broader polyclonal activation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Expanded Clones Analysis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486400" cy="36576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486400" cy="3657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47548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of Expanded Clones (&gt;100 unique seqs)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6126480" y="47548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Size of Expanded Clones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31520" y="5120640"/>
            <a:ext cx="1051560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/>
        </p:spPr>
      </p:sp>
      <p:sp>
        <p:nvSpPr>
          <p:cNvPr id="8" name="Text 4"/>
          <p:cNvSpPr/>
          <p:nvPr/>
        </p:nvSpPr>
        <p:spPr>
          <a:xfrm>
            <a:off x="914400" y="52120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Expanded clones (&gt;100 unique sequences) represent antigen-driven clonal expansion. Severe and COVID Naive groups show the highest expansion counts, while expanded clone size reveals the magnitude of individual clonal responses.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Replacement/Silent Mutation Ratio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R/S ratio as a measure of antigen-driven selection pressure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0"/>
            <a:ext cx="68580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98080" y="1371600"/>
            <a:ext cx="4206240" cy="4389120"/>
          </a:xfrm>
          <a:prstGeom prst="roundRect">
            <a:avLst>
              <a:gd name="adj" fmla="val 3261"/>
            </a:avLst>
          </a:prstGeom>
          <a:solidFill>
            <a:srgbClr val="F0F4F8"/>
          </a:solidFill>
          <a:ln/>
        </p:spPr>
      </p:sp>
      <p:sp>
        <p:nvSpPr>
          <p:cNvPr id="6" name="Text 3"/>
          <p:cNvSpPr/>
          <p:nvPr/>
        </p:nvSpPr>
        <p:spPr>
          <a:xfrm>
            <a:off x="7680960" y="1554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680960" y="21031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R/S ratio &gt; 1 indicates positive selection — replacement mutations are favored over silent ones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680960" y="28346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R/S in CDR regions vs framework reflects antigen-driven selection in binding sites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680960" y="35661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Naive and Recovered groups show elevated R/S ratios consistent with affinity maturation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680960" y="42976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controls show baseline R/S levels expected for unselected repertoires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Somatic Hypermutation Analysis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486400" cy="36576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486400" cy="3657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47548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Count (Top 10 Clones)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6126480" y="47548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 Region Mutations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31520" y="5120640"/>
            <a:ext cx="1051560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/>
        </p:spPr>
      </p:sp>
      <p:sp>
        <p:nvSpPr>
          <p:cNvPr id="8" name="Text 4"/>
          <p:cNvSpPr/>
          <p:nvPr/>
        </p:nvSpPr>
        <p:spPr>
          <a:xfrm>
            <a:off x="914400" y="52120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counts represent unique nucleotide positions differing from germline. Higher mutation in COVID Naive and Recovered groups suggests mature, affinity-selected B cell responses. CDR mutations indicate antigen-driven selection.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CDR3 Length Analysis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486400" cy="36576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486400" cy="3657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47548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CDR3 Length (Top 10 Clones, AA)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6126480" y="47548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CDR3 Length Range per Subject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31520" y="5120640"/>
            <a:ext cx="1051560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/>
        </p:spPr>
      </p:sp>
      <p:sp>
        <p:nvSpPr>
          <p:cNvPr id="8" name="Text 4"/>
          <p:cNvSpPr/>
          <p:nvPr/>
        </p:nvSpPr>
        <p:spPr>
          <a:xfrm>
            <a:off x="914400" y="52120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CDR3 lengths are relatively consistent across disease categories (~15–16 AA for top clones), suggesting the overall structural constraints on antigen binding are preserved. Greater CDR3 range diversity is observed in COVID Naive and Recovered groups.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&amp; Conclusions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10515600" cy="960120"/>
          </a:xfrm>
          <a:prstGeom prst="roundRect">
            <a:avLst>
              <a:gd name="adj" fmla="val 9524"/>
            </a:avLst>
          </a:prstGeom>
          <a:solidFill>
            <a:srgbClr val="1E3158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371600"/>
            <a:ext cx="109728" cy="9601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1444752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IS-API enables cross-study analysis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harmonized 103 subjects across 7 databases with 6 disease categories through metadata-driven filtering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514600"/>
            <a:ext cx="10515600" cy="960120"/>
          </a:xfrm>
          <a:prstGeom prst="roundRect">
            <a:avLst>
              <a:gd name="adj" fmla="val 9524"/>
            </a:avLst>
          </a:prstGeom>
          <a:solidFill>
            <a:srgbClr val="1E3158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2514600"/>
            <a:ext cx="109728" cy="9601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587752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severity shapes BCR repertoire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7280" y="297180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differences in clone size, mutation burden, and CDR3 diversity across COVID-19 severity groups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10515600" cy="960120"/>
          </a:xfrm>
          <a:prstGeom prst="roundRect">
            <a:avLst>
              <a:gd name="adj" fmla="val 9524"/>
            </a:avLst>
          </a:prstGeom>
          <a:solidFill>
            <a:srgbClr val="1E3158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3657600"/>
            <a:ext cx="109728" cy="9601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730752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Naive shows distinct expansion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411480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clonal expansion and mutation counts, suggesting pre-existing mature memory B cell responses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800600"/>
            <a:ext cx="10515600" cy="960120"/>
          </a:xfrm>
          <a:prstGeom prst="roundRect">
            <a:avLst>
              <a:gd name="adj" fmla="val 9524"/>
            </a:avLst>
          </a:prstGeom>
          <a:solidFill>
            <a:srgbClr val="1E3158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4800600"/>
            <a:ext cx="109728" cy="9601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873752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API reduces barriers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97280" y="525780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analysis pipeline replacing manual harmonization, enabling broader immunological studies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IS-API v0.3.0  |  System Immunology Lab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2026-08-11T08:20:24Z</dcterms:created>
  <dcterms:modified xsi:type="dcterms:W3CDTF">2026-08-11T08:20:24Z</dcterms:modified>
</cp:coreProperties>
</file>
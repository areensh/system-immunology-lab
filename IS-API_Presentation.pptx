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731520" y="914400"/>
            <a:ext cx="10515600" cy="1097280"/>
          </a:xfrm>
          <a:prstGeom prst="rect">
            <a:avLst/>
          </a:prstGeom>
          <a:noFill/>
          <a:ln/>
        </p:spPr>
        <p:txBody>
          <a:bodyPr wrap="square"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IS-API v0.3.0</a:t>
            </a:r>
            <a:endParaRPr lang="en-US" sz="4800" dirty="0"/>
          </a:p>
        </p:txBody>
      </p:sp>
      <p:sp>
        <p:nvSpPr>
          <p:cNvPr id="3" name="Text 1"/>
          <p:cNvSpPr/>
          <p:nvPr/>
        </p:nvSpPr>
        <p:spPr>
          <a:xfrm>
            <a:off x="731520" y="2103120"/>
            <a:ext cx="10515600" cy="1097280"/>
          </a:xfrm>
          <a:prstGeom prst="rect">
            <a:avLst/>
          </a:prstGeom>
          <a:noFill/>
          <a:ln/>
        </p:spPr>
        <p:txBody>
          <a:bodyPr wrap="square" rtlCol="0" anchor="ctr"/>
          <a:lstStyle/>
          <a:p>
            <a:pPr algn="l" indent="0" marL="0">
              <a:lnSpc>
                <a:spcPct val="130000"/>
              </a:lnSpc>
              <a:buNone/>
            </a:pPr>
            <a:r>
              <a:rPr lang="en-US" sz="2400" dirty="0">
                <a:solidFill>
                  <a:srgbClr val="00A896"/>
                </a:solidFill>
                <a:latin typeface="Calibri" pitchFamily="34" charset="0"/>
                <a:ea typeface="Calibri" pitchFamily="34" charset="-122"/>
                <a:cs typeface="Calibri" pitchFamily="34" charset="-120"/>
              </a:rPr>
              <a:t>A RESTful Statistics API for Cross-Study</a:t>
            </a:r>
            <a:endParaRPr lang="en-US" sz="2400" dirty="0"/>
          </a:p>
          <a:p>
            <a:pPr algn="l" indent="0" marL="0">
              <a:lnSpc>
                <a:spcPct val="130000"/>
              </a:lnSpc>
              <a:buNone/>
            </a:pPr>
            <a:r>
              <a:rPr lang="en-US" sz="2400" dirty="0">
                <a:solidFill>
                  <a:srgbClr val="00A896"/>
                </a:solidFill>
                <a:latin typeface="Calibri" pitchFamily="34" charset="0"/>
                <a:ea typeface="Calibri" pitchFamily="34" charset="-122"/>
                <a:cs typeface="Calibri" pitchFamily="34" charset="-120"/>
              </a:rPr>
              <a:t>Immune Repertoire Analysis</a:t>
            </a:r>
            <a:endParaRPr lang="en-US" sz="2400" dirty="0"/>
          </a:p>
        </p:txBody>
      </p:sp>
      <p:sp>
        <p:nvSpPr>
          <p:cNvPr id="4" name="Text 2"/>
          <p:cNvSpPr/>
          <p:nvPr/>
        </p:nvSpPr>
        <p:spPr>
          <a:xfrm>
            <a:off x="731520" y="3474720"/>
            <a:ext cx="10515600" cy="548640"/>
          </a:xfrm>
          <a:prstGeom prst="rect">
            <a:avLst/>
          </a:prstGeom>
          <a:noFill/>
          <a:ln/>
        </p:spPr>
        <p:txBody>
          <a:bodyPr wrap="square" rtlCol="0" anchor="ctr"/>
          <a:lstStyle/>
          <a:p>
            <a:pPr algn="l" indent="0" marL="0">
              <a:buNone/>
            </a:pPr>
            <a:r>
              <a:rPr lang="en-US" sz="1800" i="1" dirty="0">
                <a:solidFill>
                  <a:srgbClr val="718096"/>
                </a:solidFill>
                <a:latin typeface="Calibri" pitchFamily="34" charset="0"/>
                <a:ea typeface="Calibri" pitchFamily="34" charset="-122"/>
                <a:cs typeface="Calibri" pitchFamily="34" charset="-120"/>
              </a:rPr>
              <a:t>COVID-19 BCR Repertoire Use Case</a:t>
            </a:r>
            <a:endParaRPr lang="en-US" sz="1800" dirty="0"/>
          </a:p>
        </p:txBody>
      </p:sp>
      <p:sp>
        <p:nvSpPr>
          <p:cNvPr id="5" name="Text 3"/>
          <p:cNvSpPr/>
          <p:nvPr/>
        </p:nvSpPr>
        <p:spPr>
          <a:xfrm>
            <a:off x="731520" y="5029200"/>
            <a:ext cx="4572000" cy="457200"/>
          </a:xfrm>
          <a:prstGeom prst="rect">
            <a:avLst/>
          </a:prstGeom>
          <a:noFill/>
          <a:ln/>
        </p:spPr>
        <p:txBody>
          <a:bodyPr wrap="square" rtlCol="0" anchor="ctr"/>
          <a:lstStyle/>
          <a:p>
            <a:pPr algn="l" indent="0" marL="0">
              <a:buNone/>
            </a:pPr>
            <a:r>
              <a:rPr lang="en-US" sz="1600" dirty="0">
                <a:solidFill>
                  <a:srgbClr val="E2E8F0"/>
                </a:solidFill>
                <a:latin typeface="Calibri" pitchFamily="34" charset="0"/>
                <a:ea typeface="Calibri" pitchFamily="34" charset="-122"/>
                <a:cs typeface="Calibri" pitchFamily="34" charset="-120"/>
              </a:rPr>
              <a:t>System Immunology Lab</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The Challenge</a:t>
            </a:r>
            <a:endParaRPr lang="en-US" sz="3600" dirty="0"/>
          </a:p>
        </p:txBody>
      </p:sp>
      <p:sp>
        <p:nvSpPr>
          <p:cNvPr id="3" name="Shape 1"/>
          <p:cNvSpPr/>
          <p:nvPr/>
        </p:nvSpPr>
        <p:spPr>
          <a:xfrm>
            <a:off x="731520" y="1280160"/>
            <a:ext cx="10515600" cy="1005840"/>
          </a:xfrm>
          <a:prstGeom prst="roundRect">
            <a:avLst>
              <a:gd name="adj" fmla="val 9091"/>
            </a:avLst>
          </a:prstGeom>
          <a:solidFill>
            <a:srgbClr val="F0F4F8"/>
          </a:solidFill>
          <a:ln/>
          <a:effectLst>
            <a:outerShdw sx="100000" sy="100000" kx="0" ky="0" algn="bl" rotWithShape="0" blurRad="50800" dist="25400" dir="8100000">
              <a:srgbClr val="000000">
                <a:alpha val="10000"/>
              </a:srgbClr>
            </a:outerShdw>
          </a:effectLst>
        </p:spPr>
      </p:sp>
      <p:sp>
        <p:nvSpPr>
          <p:cNvPr id="4" name="Text 2"/>
          <p:cNvSpPr/>
          <p:nvPr/>
        </p:nvSpPr>
        <p:spPr>
          <a:xfrm>
            <a:off x="914400" y="141732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5" name="Text 3"/>
          <p:cNvSpPr/>
          <p:nvPr/>
        </p:nvSpPr>
        <p:spPr>
          <a:xfrm>
            <a:off x="1828800" y="1371600"/>
            <a:ext cx="3657600" cy="365760"/>
          </a:xfrm>
          <a:prstGeom prst="rect">
            <a:avLst/>
          </a:prstGeom>
          <a:noFill/>
          <a:ln/>
        </p:spPr>
        <p:txBody>
          <a:bodyPr wrap="square" lIns="0" tIns="0" rIns="0" bIns="0" rtlCol="0" anchor="ctr"/>
          <a:lstStyle/>
          <a:p>
            <a:pPr indent="0" marL="0">
              <a:buNone/>
            </a:pPr>
            <a:r>
              <a:rPr lang="en-US" sz="1800" b="1" dirty="0">
                <a:solidFill>
                  <a:srgbClr val="1A2744"/>
                </a:solidFill>
                <a:latin typeface="Calibri" pitchFamily="34" charset="0"/>
                <a:ea typeface="Calibri" pitchFamily="34" charset="-122"/>
                <a:cs typeface="Calibri" pitchFamily="34" charset="-120"/>
              </a:rPr>
              <a:t>Data Heterogeneity</a:t>
            </a:r>
            <a:endParaRPr lang="en-US" sz="1800" dirty="0"/>
          </a:p>
        </p:txBody>
      </p:sp>
      <p:sp>
        <p:nvSpPr>
          <p:cNvPr id="6" name="Text 4"/>
          <p:cNvSpPr/>
          <p:nvPr/>
        </p:nvSpPr>
        <p:spPr>
          <a:xfrm>
            <a:off x="1828800" y="1737360"/>
            <a:ext cx="9144000" cy="457200"/>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AIRR-seq studies use different metadata schemas, disease labels, and tissue types across repositories</a:t>
            </a:r>
            <a:endParaRPr lang="en-US" sz="1400" dirty="0"/>
          </a:p>
        </p:txBody>
      </p:sp>
      <p:sp>
        <p:nvSpPr>
          <p:cNvPr id="7" name="Shape 5"/>
          <p:cNvSpPr/>
          <p:nvPr/>
        </p:nvSpPr>
        <p:spPr>
          <a:xfrm>
            <a:off x="731520" y="2468880"/>
            <a:ext cx="10515600" cy="1005840"/>
          </a:xfrm>
          <a:prstGeom prst="roundRect">
            <a:avLst>
              <a:gd name="adj" fmla="val 9091"/>
            </a:avLst>
          </a:prstGeom>
          <a:solidFill>
            <a:srgbClr val="F0F4F8"/>
          </a:solidFill>
          <a:ln/>
          <a:effectLst>
            <a:outerShdw sx="100000" sy="100000" kx="0" ky="0" algn="bl" rotWithShape="0" blurRad="50800" dist="25400" dir="8100000">
              <a:srgbClr val="000000">
                <a:alpha val="10000"/>
              </a:srgbClr>
            </a:outerShdw>
          </a:effectLst>
        </p:spPr>
      </p:sp>
      <p:sp>
        <p:nvSpPr>
          <p:cNvPr id="8" name="Text 6"/>
          <p:cNvSpPr/>
          <p:nvPr/>
        </p:nvSpPr>
        <p:spPr>
          <a:xfrm>
            <a:off x="914400" y="260604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1828800" y="2560320"/>
            <a:ext cx="3657600" cy="365760"/>
          </a:xfrm>
          <a:prstGeom prst="rect">
            <a:avLst/>
          </a:prstGeom>
          <a:noFill/>
          <a:ln/>
        </p:spPr>
        <p:txBody>
          <a:bodyPr wrap="square" lIns="0" tIns="0" rIns="0" bIns="0" rtlCol="0" anchor="ctr"/>
          <a:lstStyle/>
          <a:p>
            <a:pPr indent="0" marL="0">
              <a:buNone/>
            </a:pPr>
            <a:r>
              <a:rPr lang="en-US" sz="1800" b="1" dirty="0">
                <a:solidFill>
                  <a:srgbClr val="1A2744"/>
                </a:solidFill>
                <a:latin typeface="Calibri" pitchFamily="34" charset="0"/>
                <a:ea typeface="Calibri" pitchFamily="34" charset="-122"/>
                <a:cs typeface="Calibri" pitchFamily="34" charset="-120"/>
              </a:rPr>
              <a:t>No Cross-Study Statistics</a:t>
            </a:r>
            <a:endParaRPr lang="en-US" sz="1800" dirty="0"/>
          </a:p>
        </p:txBody>
      </p:sp>
      <p:sp>
        <p:nvSpPr>
          <p:cNvPr id="10" name="Text 8"/>
          <p:cNvSpPr/>
          <p:nvPr/>
        </p:nvSpPr>
        <p:spPr>
          <a:xfrm>
            <a:off x="1828800" y="2926080"/>
            <a:ext cx="9144000" cy="457200"/>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Existing tools (iReceptor, VDJServer) focus on sequence storage and retrieval, not comparative analysis</a:t>
            </a:r>
            <a:endParaRPr lang="en-US" sz="1400" dirty="0"/>
          </a:p>
        </p:txBody>
      </p:sp>
      <p:sp>
        <p:nvSpPr>
          <p:cNvPr id="11" name="Shape 9"/>
          <p:cNvSpPr/>
          <p:nvPr/>
        </p:nvSpPr>
        <p:spPr>
          <a:xfrm>
            <a:off x="731520" y="3657600"/>
            <a:ext cx="10515600" cy="1005840"/>
          </a:xfrm>
          <a:prstGeom prst="roundRect">
            <a:avLst>
              <a:gd name="adj" fmla="val 9091"/>
            </a:avLst>
          </a:prstGeom>
          <a:solidFill>
            <a:srgbClr val="F0F4F8"/>
          </a:solidFill>
          <a:ln/>
          <a:effectLst>
            <a:outerShdw sx="100000" sy="100000" kx="0" ky="0" algn="bl" rotWithShape="0" blurRad="50800" dist="25400" dir="8100000">
              <a:srgbClr val="000000">
                <a:alpha val="10000"/>
              </a:srgbClr>
            </a:outerShdw>
          </a:effectLst>
        </p:spPr>
      </p:sp>
      <p:sp>
        <p:nvSpPr>
          <p:cNvPr id="12" name="Text 10"/>
          <p:cNvSpPr/>
          <p:nvPr/>
        </p:nvSpPr>
        <p:spPr>
          <a:xfrm>
            <a:off x="914400" y="379476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1828800" y="3749040"/>
            <a:ext cx="3657600" cy="365760"/>
          </a:xfrm>
          <a:prstGeom prst="rect">
            <a:avLst/>
          </a:prstGeom>
          <a:noFill/>
          <a:ln/>
        </p:spPr>
        <p:txBody>
          <a:bodyPr wrap="square" lIns="0" tIns="0" rIns="0" bIns="0" rtlCol="0" anchor="ctr"/>
          <a:lstStyle/>
          <a:p>
            <a:pPr indent="0" marL="0">
              <a:buNone/>
            </a:pPr>
            <a:r>
              <a:rPr lang="en-US" sz="1800" b="1" dirty="0">
                <a:solidFill>
                  <a:srgbClr val="1A2744"/>
                </a:solidFill>
                <a:latin typeface="Calibri" pitchFamily="34" charset="0"/>
                <a:ea typeface="Calibri" pitchFamily="34" charset="-122"/>
                <a:cs typeface="Calibri" pitchFamily="34" charset="-120"/>
              </a:rPr>
              <a:t>Manual Harmonization</a:t>
            </a:r>
            <a:endParaRPr lang="en-US" sz="1800" dirty="0"/>
          </a:p>
        </p:txBody>
      </p:sp>
      <p:sp>
        <p:nvSpPr>
          <p:cNvPr id="14" name="Text 12"/>
          <p:cNvSpPr/>
          <p:nvPr/>
        </p:nvSpPr>
        <p:spPr>
          <a:xfrm>
            <a:off x="1828800" y="4114800"/>
            <a:ext cx="9144000" cy="457200"/>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Researchers must manually reconcile metadata before any cross-study comparison is possible</a:t>
            </a:r>
            <a:endParaRPr lang="en-US" sz="1400" dirty="0"/>
          </a:p>
        </p:txBody>
      </p:sp>
      <p:sp>
        <p:nvSpPr>
          <p:cNvPr id="15" name="Shape 13"/>
          <p:cNvSpPr/>
          <p:nvPr/>
        </p:nvSpPr>
        <p:spPr>
          <a:xfrm>
            <a:off x="731520" y="4846320"/>
            <a:ext cx="10515600" cy="1005840"/>
          </a:xfrm>
          <a:prstGeom prst="roundRect">
            <a:avLst>
              <a:gd name="adj" fmla="val 9091"/>
            </a:avLst>
          </a:prstGeom>
          <a:solidFill>
            <a:srgbClr val="F0F4F8"/>
          </a:solidFill>
          <a:ln/>
          <a:effectLst>
            <a:outerShdw sx="100000" sy="100000" kx="0" ky="0" algn="bl" rotWithShape="0" blurRad="50800" dist="25400" dir="8100000">
              <a:srgbClr val="000000">
                <a:alpha val="10000"/>
              </a:srgbClr>
            </a:outerShdw>
          </a:effectLst>
        </p:spPr>
      </p:sp>
      <p:sp>
        <p:nvSpPr>
          <p:cNvPr id="16" name="Text 14"/>
          <p:cNvSpPr/>
          <p:nvPr/>
        </p:nvSpPr>
        <p:spPr>
          <a:xfrm>
            <a:off x="914400" y="498348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828800" y="4937760"/>
            <a:ext cx="3657600" cy="365760"/>
          </a:xfrm>
          <a:prstGeom prst="rect">
            <a:avLst/>
          </a:prstGeom>
          <a:noFill/>
          <a:ln/>
        </p:spPr>
        <p:txBody>
          <a:bodyPr wrap="square" lIns="0" tIns="0" rIns="0" bIns="0" rtlCol="0" anchor="ctr"/>
          <a:lstStyle/>
          <a:p>
            <a:pPr indent="0" marL="0">
              <a:buNone/>
            </a:pPr>
            <a:r>
              <a:rPr lang="en-US" sz="1800" b="1" dirty="0">
                <a:solidFill>
                  <a:srgbClr val="1A2744"/>
                </a:solidFill>
                <a:latin typeface="Calibri" pitchFamily="34" charset="0"/>
                <a:ea typeface="Calibri" pitchFamily="34" charset="-122"/>
                <a:cs typeface="Calibri" pitchFamily="34" charset="-120"/>
              </a:rPr>
              <a:t>Reproducibility Gap</a:t>
            </a:r>
            <a:endParaRPr lang="en-US" sz="1800" dirty="0"/>
          </a:p>
        </p:txBody>
      </p:sp>
      <p:sp>
        <p:nvSpPr>
          <p:cNvPr id="18" name="Text 16"/>
          <p:cNvSpPr/>
          <p:nvPr/>
        </p:nvSpPr>
        <p:spPr>
          <a:xfrm>
            <a:off x="1828800" y="5303520"/>
            <a:ext cx="9144000" cy="457200"/>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Ad-hoc analysis pipelines make it difficult to replicate findings across different cohorts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IS-API: The Solution</a:t>
            </a:r>
            <a:endParaRPr lang="en-US" sz="3600" dirty="0"/>
          </a:p>
        </p:txBody>
      </p:sp>
      <p:sp>
        <p:nvSpPr>
          <p:cNvPr id="3" name="Text 1"/>
          <p:cNvSpPr/>
          <p:nvPr/>
        </p:nvSpPr>
        <p:spPr>
          <a:xfrm>
            <a:off x="731520" y="1005840"/>
            <a:ext cx="10515600" cy="45720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A RESTful API built on ImmuneDB that enables standardized cross-study BCR analysis</a:t>
            </a:r>
            <a:endParaRPr lang="en-US" sz="1600" dirty="0"/>
          </a:p>
        </p:txBody>
      </p:sp>
      <p:pic>
        <p:nvPicPr>
          <p:cNvPr id="4" name="Image 0" descr="preencoded.png">    </p:cNvPr>
          <p:cNvPicPr>
            <a:picLocks noChangeAspect="1"/>
          </p:cNvPicPr>
          <p:nvPr/>
        </p:nvPicPr>
        <p:blipFill>
          <a:blip r:embed="rId1"/>
          <a:stretch>
            <a:fillRect/>
          </a:stretch>
        </p:blipFill>
        <p:spPr>
          <a:xfrm>
            <a:off x="457200" y="1645920"/>
            <a:ext cx="5029200" cy="3200400"/>
          </a:xfrm>
          <a:prstGeom prst="rect">
            <a:avLst/>
          </a:prstGeom>
        </p:spPr>
      </p:pic>
      <p:sp>
        <p:nvSpPr>
          <p:cNvPr id="5" name="Shape 2"/>
          <p:cNvSpPr/>
          <p:nvPr/>
        </p:nvSpPr>
        <p:spPr>
          <a:xfrm>
            <a:off x="5852160" y="1737360"/>
            <a:ext cx="137160" cy="640080"/>
          </a:xfrm>
          <a:prstGeom prst="rect">
            <a:avLst/>
          </a:prstGeom>
          <a:solidFill>
            <a:srgbClr val="028090"/>
          </a:solidFill>
          <a:ln/>
        </p:spPr>
      </p:sp>
      <p:sp>
        <p:nvSpPr>
          <p:cNvPr id="6" name="Text 3"/>
          <p:cNvSpPr/>
          <p:nvPr/>
        </p:nvSpPr>
        <p:spPr>
          <a:xfrm>
            <a:off x="6217920" y="1737360"/>
            <a:ext cx="5029200" cy="320040"/>
          </a:xfrm>
          <a:prstGeom prst="rect">
            <a:avLst/>
          </a:prstGeom>
          <a:noFill/>
          <a:ln/>
        </p:spPr>
        <p:txBody>
          <a:bodyPr wrap="square" lIns="0" tIns="0" rIns="0" bIns="0" rtlCol="0" anchor="ctr"/>
          <a:lstStyle/>
          <a:p>
            <a:pPr indent="0" marL="0">
              <a:buNone/>
            </a:pPr>
            <a:r>
              <a:rPr lang="en-US" sz="1500" b="1" dirty="0">
                <a:solidFill>
                  <a:srgbClr val="1A2744"/>
                </a:solidFill>
                <a:latin typeface="Calibri" pitchFamily="34" charset="0"/>
                <a:ea typeface="Calibri" pitchFamily="34" charset="-122"/>
                <a:cs typeface="Calibri" pitchFamily="34" charset="-120"/>
              </a:rPr>
              <a:t>Metadata-Driven Filtering</a:t>
            </a:r>
            <a:endParaRPr lang="en-US" sz="1500" dirty="0"/>
          </a:p>
        </p:txBody>
      </p:sp>
      <p:sp>
        <p:nvSpPr>
          <p:cNvPr id="7" name="Text 4"/>
          <p:cNvSpPr/>
          <p:nvPr/>
        </p:nvSpPr>
        <p:spPr>
          <a:xfrm>
            <a:off x="6217920" y="205740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Query by disease stage, tissue, sex, age across all databases</a:t>
            </a:r>
            <a:endParaRPr lang="en-US" sz="1200" dirty="0"/>
          </a:p>
        </p:txBody>
      </p:sp>
      <p:sp>
        <p:nvSpPr>
          <p:cNvPr id="8" name="Shape 5"/>
          <p:cNvSpPr/>
          <p:nvPr/>
        </p:nvSpPr>
        <p:spPr>
          <a:xfrm>
            <a:off x="5852160" y="2651760"/>
            <a:ext cx="137160" cy="640080"/>
          </a:xfrm>
          <a:prstGeom prst="rect">
            <a:avLst/>
          </a:prstGeom>
          <a:solidFill>
            <a:srgbClr val="028090"/>
          </a:solidFill>
          <a:ln/>
        </p:spPr>
      </p:sp>
      <p:sp>
        <p:nvSpPr>
          <p:cNvPr id="9" name="Text 6"/>
          <p:cNvSpPr/>
          <p:nvPr/>
        </p:nvSpPr>
        <p:spPr>
          <a:xfrm>
            <a:off x="6217920" y="2651760"/>
            <a:ext cx="5029200" cy="320040"/>
          </a:xfrm>
          <a:prstGeom prst="rect">
            <a:avLst/>
          </a:prstGeom>
          <a:noFill/>
          <a:ln/>
        </p:spPr>
        <p:txBody>
          <a:bodyPr wrap="square" lIns="0" tIns="0" rIns="0" bIns="0" rtlCol="0" anchor="ctr"/>
          <a:lstStyle/>
          <a:p>
            <a:pPr indent="0" marL="0">
              <a:buNone/>
            </a:pPr>
            <a:r>
              <a:rPr lang="en-US" sz="1500" b="1" dirty="0">
                <a:solidFill>
                  <a:srgbClr val="1A2744"/>
                </a:solidFill>
                <a:latin typeface="Calibri" pitchFamily="34" charset="0"/>
                <a:ea typeface="Calibri" pitchFamily="34" charset="-122"/>
                <a:cs typeface="Calibri" pitchFamily="34" charset="-120"/>
              </a:rPr>
              <a:t>5 Statistical Endpoints</a:t>
            </a:r>
            <a:endParaRPr lang="en-US" sz="1500" dirty="0"/>
          </a:p>
        </p:txBody>
      </p:sp>
      <p:sp>
        <p:nvSpPr>
          <p:cNvPr id="10" name="Text 7"/>
          <p:cNvSpPr/>
          <p:nvPr/>
        </p:nvSpPr>
        <p:spPr>
          <a:xfrm>
            <a:off x="6217920" y="297180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Clone count, clone size, CDR3 length, somatic mutations, Top-X analysis</a:t>
            </a:r>
            <a:endParaRPr lang="en-US" sz="1200" dirty="0"/>
          </a:p>
        </p:txBody>
      </p:sp>
      <p:sp>
        <p:nvSpPr>
          <p:cNvPr id="11" name="Shape 8"/>
          <p:cNvSpPr/>
          <p:nvPr/>
        </p:nvSpPr>
        <p:spPr>
          <a:xfrm>
            <a:off x="5852160" y="3566160"/>
            <a:ext cx="137160" cy="640080"/>
          </a:xfrm>
          <a:prstGeom prst="rect">
            <a:avLst/>
          </a:prstGeom>
          <a:solidFill>
            <a:srgbClr val="028090"/>
          </a:solidFill>
          <a:ln/>
        </p:spPr>
      </p:sp>
      <p:sp>
        <p:nvSpPr>
          <p:cNvPr id="12" name="Text 9"/>
          <p:cNvSpPr/>
          <p:nvPr/>
        </p:nvSpPr>
        <p:spPr>
          <a:xfrm>
            <a:off x="6217920" y="3566160"/>
            <a:ext cx="5029200" cy="320040"/>
          </a:xfrm>
          <a:prstGeom prst="rect">
            <a:avLst/>
          </a:prstGeom>
          <a:noFill/>
          <a:ln/>
        </p:spPr>
        <p:txBody>
          <a:bodyPr wrap="square" lIns="0" tIns="0" rIns="0" bIns="0" rtlCol="0" anchor="ctr"/>
          <a:lstStyle/>
          <a:p>
            <a:pPr indent="0" marL="0">
              <a:buNone/>
            </a:pPr>
            <a:r>
              <a:rPr lang="en-US" sz="1500" b="1" dirty="0">
                <a:solidFill>
                  <a:srgbClr val="1A2744"/>
                </a:solidFill>
                <a:latin typeface="Calibri" pitchFamily="34" charset="0"/>
                <a:ea typeface="Calibri" pitchFamily="34" charset="-122"/>
                <a:cs typeface="Calibri" pitchFamily="34" charset="-120"/>
              </a:rPr>
              <a:t>7 ImmuneDB Instances</a:t>
            </a:r>
            <a:endParaRPr lang="en-US" sz="1500" dirty="0"/>
          </a:p>
        </p:txBody>
      </p:sp>
      <p:sp>
        <p:nvSpPr>
          <p:cNvPr id="13" name="Text 10"/>
          <p:cNvSpPr/>
          <p:nvPr/>
        </p:nvSpPr>
        <p:spPr>
          <a:xfrm>
            <a:off x="6217920" y="388620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COVID-19, vaccine, healthy, and transplant cohorts unified</a:t>
            </a:r>
            <a:endParaRPr lang="en-US" sz="1200" dirty="0"/>
          </a:p>
        </p:txBody>
      </p:sp>
      <p:sp>
        <p:nvSpPr>
          <p:cNvPr id="14" name="Shape 11"/>
          <p:cNvSpPr/>
          <p:nvPr/>
        </p:nvSpPr>
        <p:spPr>
          <a:xfrm>
            <a:off x="5852160" y="4480560"/>
            <a:ext cx="137160" cy="640080"/>
          </a:xfrm>
          <a:prstGeom prst="rect">
            <a:avLst/>
          </a:prstGeom>
          <a:solidFill>
            <a:srgbClr val="028090"/>
          </a:solidFill>
          <a:ln/>
        </p:spPr>
      </p:sp>
      <p:sp>
        <p:nvSpPr>
          <p:cNvPr id="15" name="Text 12"/>
          <p:cNvSpPr/>
          <p:nvPr/>
        </p:nvSpPr>
        <p:spPr>
          <a:xfrm>
            <a:off x="6217920" y="4480560"/>
            <a:ext cx="5029200" cy="320040"/>
          </a:xfrm>
          <a:prstGeom prst="rect">
            <a:avLst/>
          </a:prstGeom>
          <a:noFill/>
          <a:ln/>
        </p:spPr>
        <p:txBody>
          <a:bodyPr wrap="square" lIns="0" tIns="0" rIns="0" bIns="0" rtlCol="0" anchor="ctr"/>
          <a:lstStyle/>
          <a:p>
            <a:pPr indent="0" marL="0">
              <a:buNone/>
            </a:pPr>
            <a:r>
              <a:rPr lang="en-US" sz="1500" b="1" dirty="0">
                <a:solidFill>
                  <a:srgbClr val="1A2744"/>
                </a:solidFill>
                <a:latin typeface="Calibri" pitchFamily="34" charset="0"/>
                <a:ea typeface="Calibri" pitchFamily="34" charset="-122"/>
                <a:cs typeface="Calibri" pitchFamily="34" charset="-120"/>
              </a:rPr>
              <a:t>JSON Output</a:t>
            </a:r>
            <a:endParaRPr lang="en-US" sz="1500" dirty="0"/>
          </a:p>
        </p:txBody>
      </p:sp>
      <p:sp>
        <p:nvSpPr>
          <p:cNvPr id="16" name="Text 13"/>
          <p:cNvSpPr/>
          <p:nvPr/>
        </p:nvSpPr>
        <p:spPr>
          <a:xfrm>
            <a:off x="6217920" y="4800600"/>
            <a:ext cx="5029200" cy="32004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Structured responses for programmatic downstream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Study Cohort</a:t>
            </a:r>
            <a:endParaRPr lang="en-US" sz="3600" dirty="0"/>
          </a:p>
        </p:txBody>
      </p:sp>
      <p:sp>
        <p:nvSpPr>
          <p:cNvPr id="3" name="Shape 1"/>
          <p:cNvSpPr/>
          <p:nvPr/>
        </p:nvSpPr>
        <p:spPr>
          <a:xfrm>
            <a:off x="731520" y="1097280"/>
            <a:ext cx="2377440" cy="1280160"/>
          </a:xfrm>
          <a:prstGeom prst="roundRect">
            <a:avLst>
              <a:gd name="adj" fmla="val 7143"/>
            </a:avLst>
          </a:prstGeom>
          <a:solidFill>
            <a:srgbClr val="1A2744"/>
          </a:solidFill>
          <a:ln/>
        </p:spPr>
      </p:sp>
      <p:sp>
        <p:nvSpPr>
          <p:cNvPr id="4" name="Text 2"/>
          <p:cNvSpPr/>
          <p:nvPr/>
        </p:nvSpPr>
        <p:spPr>
          <a:xfrm>
            <a:off x="731520" y="1143000"/>
            <a:ext cx="2377440" cy="777240"/>
          </a:xfrm>
          <a:prstGeom prst="rect">
            <a:avLst/>
          </a:prstGeom>
          <a:noFill/>
          <a:ln/>
        </p:spPr>
        <p:txBody>
          <a:bodyPr wrap="square" lIns="0" tIns="0" rIns="0" bIns="0" rtlCol="0" anchor="ctr"/>
          <a:lstStyle/>
          <a:p>
            <a:pPr algn="ctr" indent="0" marL="0">
              <a:buNone/>
            </a:pPr>
            <a:r>
              <a:rPr lang="en-US" sz="4400" b="1" dirty="0">
                <a:solidFill>
                  <a:srgbClr val="00A896"/>
                </a:solidFill>
                <a:latin typeface="Cambria" pitchFamily="34" charset="0"/>
                <a:ea typeface="Cambria" pitchFamily="34" charset="-122"/>
                <a:cs typeface="Cambria" pitchFamily="34" charset="-120"/>
              </a:rPr>
              <a:t>103</a:t>
            </a:r>
            <a:endParaRPr lang="en-US" sz="4400" dirty="0"/>
          </a:p>
        </p:txBody>
      </p:sp>
      <p:sp>
        <p:nvSpPr>
          <p:cNvPr id="5" name="Text 3"/>
          <p:cNvSpPr/>
          <p:nvPr/>
        </p:nvSpPr>
        <p:spPr>
          <a:xfrm>
            <a:off x="731520" y="1920240"/>
            <a:ext cx="2377440" cy="411480"/>
          </a:xfrm>
          <a:prstGeom prst="rect">
            <a:avLst/>
          </a:prstGeom>
          <a:noFill/>
          <a:ln/>
        </p:spPr>
        <p:txBody>
          <a:bodyPr wrap="square" lIns="0" tIns="0" rIns="0" bIns="0" rtlCol="0" anchor="ctr"/>
          <a:lstStyle/>
          <a:p>
            <a:pPr algn="ctr" indent="0" marL="0">
              <a:buNone/>
            </a:pPr>
            <a:r>
              <a:rPr lang="en-US" sz="1300" dirty="0">
                <a:solidFill>
                  <a:srgbClr val="E2E8F0"/>
                </a:solidFill>
                <a:latin typeface="Calibri" pitchFamily="34" charset="0"/>
                <a:ea typeface="Calibri" pitchFamily="34" charset="-122"/>
                <a:cs typeface="Calibri" pitchFamily="34" charset="-120"/>
              </a:rPr>
              <a:t>Subjects</a:t>
            </a:r>
            <a:endParaRPr lang="en-US" sz="1300" dirty="0"/>
          </a:p>
        </p:txBody>
      </p:sp>
      <p:sp>
        <p:nvSpPr>
          <p:cNvPr id="6" name="Shape 4"/>
          <p:cNvSpPr/>
          <p:nvPr/>
        </p:nvSpPr>
        <p:spPr>
          <a:xfrm>
            <a:off x="3474720" y="1097280"/>
            <a:ext cx="2377440" cy="1280160"/>
          </a:xfrm>
          <a:prstGeom prst="roundRect">
            <a:avLst>
              <a:gd name="adj" fmla="val 7143"/>
            </a:avLst>
          </a:prstGeom>
          <a:solidFill>
            <a:srgbClr val="F0F4F8"/>
          </a:solidFill>
          <a:ln/>
        </p:spPr>
      </p:sp>
      <p:sp>
        <p:nvSpPr>
          <p:cNvPr id="7" name="Text 5"/>
          <p:cNvSpPr/>
          <p:nvPr/>
        </p:nvSpPr>
        <p:spPr>
          <a:xfrm>
            <a:off x="3474720" y="1143000"/>
            <a:ext cx="2377440" cy="77724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7</a:t>
            </a:r>
            <a:endParaRPr lang="en-US" sz="4400" dirty="0"/>
          </a:p>
        </p:txBody>
      </p:sp>
      <p:sp>
        <p:nvSpPr>
          <p:cNvPr id="8" name="Text 6"/>
          <p:cNvSpPr/>
          <p:nvPr/>
        </p:nvSpPr>
        <p:spPr>
          <a:xfrm>
            <a:off x="3474720" y="1920240"/>
            <a:ext cx="2377440" cy="411480"/>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Databases</a:t>
            </a:r>
            <a:endParaRPr lang="en-US" sz="1300" dirty="0"/>
          </a:p>
        </p:txBody>
      </p:sp>
      <p:sp>
        <p:nvSpPr>
          <p:cNvPr id="9" name="Shape 7"/>
          <p:cNvSpPr/>
          <p:nvPr/>
        </p:nvSpPr>
        <p:spPr>
          <a:xfrm>
            <a:off x="6217920" y="1097280"/>
            <a:ext cx="2377440" cy="1280160"/>
          </a:xfrm>
          <a:prstGeom prst="roundRect">
            <a:avLst>
              <a:gd name="adj" fmla="val 7143"/>
            </a:avLst>
          </a:prstGeom>
          <a:solidFill>
            <a:srgbClr val="F0F4F8"/>
          </a:solidFill>
          <a:ln/>
        </p:spPr>
      </p:sp>
      <p:sp>
        <p:nvSpPr>
          <p:cNvPr id="10" name="Text 8"/>
          <p:cNvSpPr/>
          <p:nvPr/>
        </p:nvSpPr>
        <p:spPr>
          <a:xfrm>
            <a:off x="6217920" y="1143000"/>
            <a:ext cx="2377440" cy="77724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6</a:t>
            </a:r>
            <a:endParaRPr lang="en-US" sz="4400" dirty="0"/>
          </a:p>
        </p:txBody>
      </p:sp>
      <p:sp>
        <p:nvSpPr>
          <p:cNvPr id="11" name="Text 9"/>
          <p:cNvSpPr/>
          <p:nvPr/>
        </p:nvSpPr>
        <p:spPr>
          <a:xfrm>
            <a:off x="6217920" y="1920240"/>
            <a:ext cx="2377440" cy="411480"/>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Disease</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Categories</a:t>
            </a:r>
            <a:endParaRPr lang="en-US" sz="1300" dirty="0"/>
          </a:p>
        </p:txBody>
      </p:sp>
      <p:sp>
        <p:nvSpPr>
          <p:cNvPr id="12" name="Shape 10"/>
          <p:cNvSpPr/>
          <p:nvPr/>
        </p:nvSpPr>
        <p:spPr>
          <a:xfrm>
            <a:off x="8961120" y="1097280"/>
            <a:ext cx="2377440" cy="1280160"/>
          </a:xfrm>
          <a:prstGeom prst="roundRect">
            <a:avLst>
              <a:gd name="adj" fmla="val 7143"/>
            </a:avLst>
          </a:prstGeom>
          <a:solidFill>
            <a:srgbClr val="F0F4F8"/>
          </a:solidFill>
          <a:ln/>
        </p:spPr>
      </p:sp>
      <p:sp>
        <p:nvSpPr>
          <p:cNvPr id="13" name="Text 11"/>
          <p:cNvSpPr/>
          <p:nvPr/>
        </p:nvSpPr>
        <p:spPr>
          <a:xfrm>
            <a:off x="8961120" y="1143000"/>
            <a:ext cx="2377440" cy="77724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5</a:t>
            </a:r>
            <a:endParaRPr lang="en-US" sz="4400" dirty="0"/>
          </a:p>
        </p:txBody>
      </p:sp>
      <p:sp>
        <p:nvSpPr>
          <p:cNvPr id="14" name="Text 12"/>
          <p:cNvSpPr/>
          <p:nvPr/>
        </p:nvSpPr>
        <p:spPr>
          <a:xfrm>
            <a:off x="8961120" y="1920240"/>
            <a:ext cx="2377440" cy="411480"/>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Statistical</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Endpoints</a:t>
            </a:r>
            <a:endParaRPr lang="en-US" sz="1300" dirty="0"/>
          </a:p>
        </p:txBody>
      </p:sp>
      <p:pic>
        <p:nvPicPr>
          <p:cNvPr id="15" name="Image 0" descr="preencoded.png">    </p:cNvPr>
          <p:cNvPicPr>
            <a:picLocks noChangeAspect="1"/>
          </p:cNvPicPr>
          <p:nvPr/>
        </p:nvPicPr>
        <p:blipFill>
          <a:blip r:embed="rId1"/>
          <a:stretch>
            <a:fillRect/>
          </a:stretch>
        </p:blipFill>
        <p:spPr>
          <a:xfrm>
            <a:off x="274320" y="2651760"/>
            <a:ext cx="5669280" cy="3657600"/>
          </a:xfrm>
          <a:prstGeom prst="rect">
            <a:avLst/>
          </a:prstGeom>
        </p:spPr>
      </p:pic>
      <p:sp>
        <p:nvSpPr>
          <p:cNvPr id="16" name="Text 13"/>
          <p:cNvSpPr/>
          <p:nvPr/>
        </p:nvSpPr>
        <p:spPr>
          <a:xfrm>
            <a:off x="6217920" y="2788920"/>
            <a:ext cx="731520" cy="365760"/>
          </a:xfrm>
          <a:prstGeom prst="rect">
            <a:avLst/>
          </a:prstGeom>
          <a:solidFill>
            <a:srgbClr val="028090"/>
          </a:solidFill>
          <a:ln/>
        </p:spPr>
        <p:txBody>
          <a:bodyPr wrap="square" lIns="25400" tIns="50800" rIns="50800" bIns="254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p>
        </p:txBody>
      </p:sp>
      <p:sp>
        <p:nvSpPr>
          <p:cNvPr id="17" name="Text 14"/>
          <p:cNvSpPr/>
          <p:nvPr/>
        </p:nvSpPr>
        <p:spPr>
          <a:xfrm>
            <a:off x="6949440" y="2788920"/>
            <a:ext cx="2194560" cy="365760"/>
          </a:xfrm>
          <a:prstGeom prst="rect">
            <a:avLst/>
          </a:prstGeom>
          <a:solidFill>
            <a:srgbClr val="028090"/>
          </a:solidFill>
          <a:ln/>
        </p:spPr>
        <p:txBody>
          <a:bodyPr wrap="square" lIns="25400" tIns="50800" rIns="50800" bIns="254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Study</a:t>
            </a:r>
            <a:endParaRPr lang="en-US" sz="1100" dirty="0"/>
          </a:p>
        </p:txBody>
      </p:sp>
      <p:sp>
        <p:nvSpPr>
          <p:cNvPr id="18" name="Text 15"/>
          <p:cNvSpPr/>
          <p:nvPr/>
        </p:nvSpPr>
        <p:spPr>
          <a:xfrm>
            <a:off x="9144000" y="2788920"/>
            <a:ext cx="457200" cy="365760"/>
          </a:xfrm>
          <a:prstGeom prst="rect">
            <a:avLst/>
          </a:prstGeom>
          <a:solidFill>
            <a:srgbClr val="028090"/>
          </a:solidFill>
          <a:ln/>
        </p:spPr>
        <p:txBody>
          <a:bodyPr wrap="square" lIns="25400" tIns="50800" rIns="50800" bIns="254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19" name="Text 16"/>
          <p:cNvSpPr/>
          <p:nvPr/>
        </p:nvSpPr>
        <p:spPr>
          <a:xfrm>
            <a:off x="9601200" y="2788920"/>
            <a:ext cx="2560320" cy="365760"/>
          </a:xfrm>
          <a:prstGeom prst="rect">
            <a:avLst/>
          </a:prstGeom>
          <a:solidFill>
            <a:srgbClr val="028090"/>
          </a:solidFill>
          <a:ln/>
        </p:spPr>
        <p:txBody>
          <a:bodyPr wrap="square" lIns="25400" tIns="50800" rIns="50800" bIns="254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Disease</a:t>
            </a:r>
            <a:endParaRPr lang="en-US" sz="1100" dirty="0"/>
          </a:p>
        </p:txBody>
      </p:sp>
      <p:sp>
        <p:nvSpPr>
          <p:cNvPr id="20" name="Text 17"/>
          <p:cNvSpPr/>
          <p:nvPr/>
        </p:nvSpPr>
        <p:spPr>
          <a:xfrm>
            <a:off x="6217920" y="3172968"/>
            <a:ext cx="7315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CD1</a:t>
            </a:r>
            <a:endParaRPr lang="en-US" sz="1100" dirty="0"/>
          </a:p>
        </p:txBody>
      </p:sp>
      <p:sp>
        <p:nvSpPr>
          <p:cNvPr id="21" name="Text 18"/>
          <p:cNvSpPr/>
          <p:nvPr/>
        </p:nvSpPr>
        <p:spPr>
          <a:xfrm>
            <a:off x="6949440" y="3172968"/>
            <a:ext cx="219456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Covid19_db3</a:t>
            </a:r>
            <a:endParaRPr lang="en-US" sz="1100" dirty="0"/>
          </a:p>
        </p:txBody>
      </p:sp>
      <p:sp>
        <p:nvSpPr>
          <p:cNvPr id="22" name="Text 19"/>
          <p:cNvSpPr/>
          <p:nvPr/>
        </p:nvSpPr>
        <p:spPr>
          <a:xfrm>
            <a:off x="9144000" y="3172968"/>
            <a:ext cx="45720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51</a:t>
            </a:r>
            <a:endParaRPr lang="en-US" sz="1100" dirty="0"/>
          </a:p>
        </p:txBody>
      </p:sp>
      <p:sp>
        <p:nvSpPr>
          <p:cNvPr id="23" name="Text 20"/>
          <p:cNvSpPr/>
          <p:nvPr/>
        </p:nvSpPr>
        <p:spPr>
          <a:xfrm>
            <a:off x="9601200" y="3172968"/>
            <a:ext cx="25603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Mild, Severe</a:t>
            </a:r>
            <a:endParaRPr lang="en-US" sz="1100" dirty="0"/>
          </a:p>
        </p:txBody>
      </p:sp>
      <p:sp>
        <p:nvSpPr>
          <p:cNvPr id="24" name="Text 21"/>
          <p:cNvSpPr/>
          <p:nvPr/>
        </p:nvSpPr>
        <p:spPr>
          <a:xfrm>
            <a:off x="6217920" y="3557016"/>
            <a:ext cx="73152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CD2</a:t>
            </a:r>
            <a:endParaRPr lang="en-US" sz="1100" dirty="0"/>
          </a:p>
        </p:txBody>
      </p:sp>
      <p:sp>
        <p:nvSpPr>
          <p:cNvPr id="25" name="Text 22"/>
          <p:cNvSpPr/>
          <p:nvPr/>
        </p:nvSpPr>
        <p:spPr>
          <a:xfrm>
            <a:off x="6949440" y="3557016"/>
            <a:ext cx="219456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covid_db2</a:t>
            </a:r>
            <a:endParaRPr lang="en-US" sz="1100" dirty="0"/>
          </a:p>
        </p:txBody>
      </p:sp>
      <p:sp>
        <p:nvSpPr>
          <p:cNvPr id="26" name="Text 23"/>
          <p:cNvSpPr/>
          <p:nvPr/>
        </p:nvSpPr>
        <p:spPr>
          <a:xfrm>
            <a:off x="9144000" y="3557016"/>
            <a:ext cx="45720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19</a:t>
            </a:r>
            <a:endParaRPr lang="en-US" sz="1100" dirty="0"/>
          </a:p>
        </p:txBody>
      </p:sp>
      <p:sp>
        <p:nvSpPr>
          <p:cNvPr id="27" name="Text 24"/>
          <p:cNvSpPr/>
          <p:nvPr/>
        </p:nvSpPr>
        <p:spPr>
          <a:xfrm>
            <a:off x="9601200" y="3557016"/>
            <a:ext cx="256032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Severe, Moderate, Recovered</a:t>
            </a:r>
            <a:endParaRPr lang="en-US" sz="1100" dirty="0"/>
          </a:p>
        </p:txBody>
      </p:sp>
      <p:sp>
        <p:nvSpPr>
          <p:cNvPr id="28" name="Text 25"/>
          <p:cNvSpPr/>
          <p:nvPr/>
        </p:nvSpPr>
        <p:spPr>
          <a:xfrm>
            <a:off x="6217920" y="3941064"/>
            <a:ext cx="7315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CD3</a:t>
            </a:r>
            <a:endParaRPr lang="en-US" sz="1100" dirty="0"/>
          </a:p>
        </p:txBody>
      </p:sp>
      <p:sp>
        <p:nvSpPr>
          <p:cNvPr id="29" name="Text 26"/>
          <p:cNvSpPr/>
          <p:nvPr/>
        </p:nvSpPr>
        <p:spPr>
          <a:xfrm>
            <a:off x="6949440" y="3941064"/>
            <a:ext cx="219456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covid19</a:t>
            </a:r>
            <a:endParaRPr lang="en-US" sz="1100" dirty="0"/>
          </a:p>
        </p:txBody>
      </p:sp>
      <p:sp>
        <p:nvSpPr>
          <p:cNvPr id="30" name="Text 27"/>
          <p:cNvSpPr/>
          <p:nvPr/>
        </p:nvSpPr>
        <p:spPr>
          <a:xfrm>
            <a:off x="9144000" y="3941064"/>
            <a:ext cx="45720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13</a:t>
            </a:r>
            <a:endParaRPr lang="en-US" sz="1100" dirty="0"/>
          </a:p>
        </p:txBody>
      </p:sp>
      <p:sp>
        <p:nvSpPr>
          <p:cNvPr id="31" name="Text 28"/>
          <p:cNvSpPr/>
          <p:nvPr/>
        </p:nvSpPr>
        <p:spPr>
          <a:xfrm>
            <a:off x="9601200" y="3941064"/>
            <a:ext cx="25603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Mild, Severe, Healthy</a:t>
            </a:r>
            <a:endParaRPr lang="en-US" sz="1100" dirty="0"/>
          </a:p>
        </p:txBody>
      </p:sp>
      <p:sp>
        <p:nvSpPr>
          <p:cNvPr id="32" name="Text 29"/>
          <p:cNvSpPr/>
          <p:nvPr/>
        </p:nvSpPr>
        <p:spPr>
          <a:xfrm>
            <a:off x="6217920" y="4325112"/>
            <a:ext cx="73152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CVX1</a:t>
            </a:r>
            <a:endParaRPr lang="en-US" sz="1100" dirty="0"/>
          </a:p>
        </p:txBody>
      </p:sp>
      <p:sp>
        <p:nvSpPr>
          <p:cNvPr id="33" name="Text 30"/>
          <p:cNvSpPr/>
          <p:nvPr/>
        </p:nvSpPr>
        <p:spPr>
          <a:xfrm>
            <a:off x="6949440" y="4325112"/>
            <a:ext cx="219456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vaccine2</a:t>
            </a:r>
            <a:endParaRPr lang="en-US" sz="1100" dirty="0"/>
          </a:p>
        </p:txBody>
      </p:sp>
      <p:sp>
        <p:nvSpPr>
          <p:cNvPr id="34" name="Text 31"/>
          <p:cNvSpPr/>
          <p:nvPr/>
        </p:nvSpPr>
        <p:spPr>
          <a:xfrm>
            <a:off x="9144000" y="4325112"/>
            <a:ext cx="45720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12</a:t>
            </a:r>
            <a:endParaRPr lang="en-US" sz="1100" dirty="0"/>
          </a:p>
        </p:txBody>
      </p:sp>
      <p:sp>
        <p:nvSpPr>
          <p:cNvPr id="35" name="Text 32"/>
          <p:cNvSpPr/>
          <p:nvPr/>
        </p:nvSpPr>
        <p:spPr>
          <a:xfrm>
            <a:off x="9601200" y="4325112"/>
            <a:ext cx="256032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COVID Naive, Recovered</a:t>
            </a:r>
            <a:endParaRPr lang="en-US" sz="1100" dirty="0"/>
          </a:p>
        </p:txBody>
      </p:sp>
      <p:sp>
        <p:nvSpPr>
          <p:cNvPr id="36" name="Text 33"/>
          <p:cNvSpPr/>
          <p:nvPr/>
        </p:nvSpPr>
        <p:spPr>
          <a:xfrm>
            <a:off x="6217920" y="4709160"/>
            <a:ext cx="7315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CVX2</a:t>
            </a:r>
            <a:endParaRPr lang="en-US" sz="1100" dirty="0"/>
          </a:p>
        </p:txBody>
      </p:sp>
      <p:sp>
        <p:nvSpPr>
          <p:cNvPr id="37" name="Text 34"/>
          <p:cNvSpPr/>
          <p:nvPr/>
        </p:nvSpPr>
        <p:spPr>
          <a:xfrm>
            <a:off x="6949440" y="4709160"/>
            <a:ext cx="219456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covid_vaccine_new</a:t>
            </a:r>
            <a:endParaRPr lang="en-US" sz="1100" dirty="0"/>
          </a:p>
        </p:txBody>
      </p:sp>
      <p:sp>
        <p:nvSpPr>
          <p:cNvPr id="38" name="Text 35"/>
          <p:cNvSpPr/>
          <p:nvPr/>
        </p:nvSpPr>
        <p:spPr>
          <a:xfrm>
            <a:off x="9144000" y="4709160"/>
            <a:ext cx="45720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5</a:t>
            </a:r>
            <a:endParaRPr lang="en-US" sz="1100" dirty="0"/>
          </a:p>
        </p:txBody>
      </p:sp>
      <p:sp>
        <p:nvSpPr>
          <p:cNvPr id="39" name="Text 36"/>
          <p:cNvSpPr/>
          <p:nvPr/>
        </p:nvSpPr>
        <p:spPr>
          <a:xfrm>
            <a:off x="9601200" y="4709160"/>
            <a:ext cx="25603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Recovered</a:t>
            </a:r>
            <a:endParaRPr lang="en-US" sz="1100" dirty="0"/>
          </a:p>
        </p:txBody>
      </p:sp>
      <p:sp>
        <p:nvSpPr>
          <p:cNvPr id="40" name="Text 37"/>
          <p:cNvSpPr/>
          <p:nvPr/>
        </p:nvSpPr>
        <p:spPr>
          <a:xfrm>
            <a:off x="6217920" y="5093208"/>
            <a:ext cx="73152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HC1</a:t>
            </a:r>
            <a:endParaRPr lang="en-US" sz="1100" dirty="0"/>
          </a:p>
        </p:txBody>
      </p:sp>
      <p:sp>
        <p:nvSpPr>
          <p:cNvPr id="41" name="Text 38"/>
          <p:cNvSpPr/>
          <p:nvPr/>
        </p:nvSpPr>
        <p:spPr>
          <a:xfrm>
            <a:off x="6949440" y="5093208"/>
            <a:ext cx="219456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lp16_Igblast</a:t>
            </a:r>
            <a:endParaRPr lang="en-US" sz="1100" dirty="0"/>
          </a:p>
        </p:txBody>
      </p:sp>
      <p:sp>
        <p:nvSpPr>
          <p:cNvPr id="42" name="Text 39"/>
          <p:cNvSpPr/>
          <p:nvPr/>
        </p:nvSpPr>
        <p:spPr>
          <a:xfrm>
            <a:off x="9144000" y="5093208"/>
            <a:ext cx="45720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6</a:t>
            </a:r>
            <a:endParaRPr lang="en-US" sz="1100" dirty="0"/>
          </a:p>
        </p:txBody>
      </p:sp>
      <p:sp>
        <p:nvSpPr>
          <p:cNvPr id="43" name="Text 40"/>
          <p:cNvSpPr/>
          <p:nvPr/>
        </p:nvSpPr>
        <p:spPr>
          <a:xfrm>
            <a:off x="9601200" y="5093208"/>
            <a:ext cx="2560320" cy="365760"/>
          </a:xfrm>
          <a:prstGeom prst="rect">
            <a:avLst/>
          </a:prstGeom>
          <a:solidFill>
            <a:srgbClr val="F0F4F8"/>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Healthy</a:t>
            </a:r>
            <a:endParaRPr lang="en-US" sz="1100" dirty="0"/>
          </a:p>
        </p:txBody>
      </p:sp>
      <p:sp>
        <p:nvSpPr>
          <p:cNvPr id="44" name="Text 41"/>
          <p:cNvSpPr/>
          <p:nvPr/>
        </p:nvSpPr>
        <p:spPr>
          <a:xfrm>
            <a:off x="6217920" y="5477256"/>
            <a:ext cx="7315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GT1</a:t>
            </a:r>
            <a:endParaRPr lang="en-US" sz="1100" dirty="0"/>
          </a:p>
        </p:txBody>
      </p:sp>
      <p:sp>
        <p:nvSpPr>
          <p:cNvPr id="45" name="Text 42"/>
          <p:cNvSpPr/>
          <p:nvPr/>
        </p:nvSpPr>
        <p:spPr>
          <a:xfrm>
            <a:off x="6949440" y="5477256"/>
            <a:ext cx="219456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sykesIgblast2020</a:t>
            </a:r>
            <a:endParaRPr lang="en-US" sz="1100" dirty="0"/>
          </a:p>
        </p:txBody>
      </p:sp>
      <p:sp>
        <p:nvSpPr>
          <p:cNvPr id="46" name="Text 43"/>
          <p:cNvSpPr/>
          <p:nvPr/>
        </p:nvSpPr>
        <p:spPr>
          <a:xfrm>
            <a:off x="9144000" y="5477256"/>
            <a:ext cx="45720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15</a:t>
            </a:r>
            <a:endParaRPr lang="en-US" sz="1100" dirty="0"/>
          </a:p>
        </p:txBody>
      </p:sp>
      <p:sp>
        <p:nvSpPr>
          <p:cNvPr id="47" name="Text 44"/>
          <p:cNvSpPr/>
          <p:nvPr/>
        </p:nvSpPr>
        <p:spPr>
          <a:xfrm>
            <a:off x="9601200" y="5477256"/>
            <a:ext cx="2560320" cy="365760"/>
          </a:xfrm>
          <a:prstGeom prst="rect">
            <a:avLst/>
          </a:prstGeom>
          <a:solidFill>
            <a:srgbClr val="FFFFFF"/>
          </a:solidFill>
          <a:ln/>
        </p:spPr>
        <p:txBody>
          <a:bodyPr wrap="square" lIns="25400" tIns="50800" rIns="50800" bIns="2540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Transplant (excluded)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Disease Stage Harmonization</a:t>
            </a:r>
            <a:endParaRPr lang="en-US" sz="3600" dirty="0"/>
          </a:p>
        </p:txBody>
      </p:sp>
      <p:sp>
        <p:nvSpPr>
          <p:cNvPr id="3" name="Text 1"/>
          <p:cNvSpPr/>
          <p:nvPr/>
        </p:nvSpPr>
        <p:spPr>
          <a:xfrm>
            <a:off x="731520" y="914400"/>
            <a:ext cx="10515600" cy="36576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13 original disease labels → 6 harmonized categories</a:t>
            </a:r>
            <a:endParaRPr lang="en-US" sz="1600" dirty="0"/>
          </a:p>
        </p:txBody>
      </p:sp>
      <p:pic>
        <p:nvPicPr>
          <p:cNvPr id="4" name="Image 0" descr="preencoded.png">    </p:cNvPr>
          <p:cNvPicPr>
            <a:picLocks noChangeAspect="1"/>
          </p:cNvPicPr>
          <p:nvPr/>
        </p:nvPicPr>
        <p:blipFill>
          <a:blip r:embed="rId1"/>
          <a:stretch>
            <a:fillRect/>
          </a:stretch>
        </p:blipFill>
        <p:spPr>
          <a:xfrm>
            <a:off x="182880" y="1371600"/>
            <a:ext cx="5943600" cy="3291840"/>
          </a:xfrm>
          <a:prstGeom prst="rect">
            <a:avLst/>
          </a:prstGeom>
        </p:spPr>
      </p:pic>
      <p:pic>
        <p:nvPicPr>
          <p:cNvPr id="5" name="Image 1" descr="preencoded.png">    </p:cNvPr>
          <p:cNvPicPr>
            <a:picLocks noChangeAspect="1"/>
          </p:cNvPicPr>
          <p:nvPr/>
        </p:nvPicPr>
        <p:blipFill>
          <a:blip r:embed="rId2"/>
          <a:stretch>
            <a:fillRect/>
          </a:stretch>
        </p:blipFill>
        <p:spPr>
          <a:xfrm>
            <a:off x="6035040" y="1371600"/>
            <a:ext cx="5943600" cy="3291840"/>
          </a:xfrm>
          <a:prstGeom prst="rect">
            <a:avLst/>
          </a:prstGeom>
        </p:spPr>
      </p:pic>
      <p:sp>
        <p:nvSpPr>
          <p:cNvPr id="6" name="Text 2"/>
          <p:cNvSpPr/>
          <p:nvPr/>
        </p:nvSpPr>
        <p:spPr>
          <a:xfrm>
            <a:off x="457200" y="4754880"/>
            <a:ext cx="548640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Original Disease Labels by Dataset</a:t>
            </a:r>
            <a:endParaRPr lang="en-US" sz="1100" dirty="0"/>
          </a:p>
        </p:txBody>
      </p:sp>
      <p:sp>
        <p:nvSpPr>
          <p:cNvPr id="7" name="Text 3"/>
          <p:cNvSpPr/>
          <p:nvPr/>
        </p:nvSpPr>
        <p:spPr>
          <a:xfrm>
            <a:off x="6217920" y="4754880"/>
            <a:ext cx="548640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Harmonized Categories with Original Label Breakdown</a:t>
            </a:r>
            <a:endParaRPr lang="en-US" sz="1100" dirty="0"/>
          </a:p>
        </p:txBody>
      </p:sp>
      <p:sp>
        <p:nvSpPr>
          <p:cNvPr id="8" name="Text 4"/>
          <p:cNvSpPr/>
          <p:nvPr/>
        </p:nvSpPr>
        <p:spPr>
          <a:xfrm>
            <a:off x="731520" y="5212080"/>
            <a:ext cx="10515600" cy="365760"/>
          </a:xfrm>
          <a:prstGeom prst="rect">
            <a:avLst/>
          </a:prstGeom>
          <a:noFill/>
          <a:ln/>
        </p:spPr>
        <p:txBody>
          <a:bodyPr wrap="square" rtlCol="0" anchor="ctr"/>
          <a:lstStyle/>
          <a:p>
            <a:pPr indent="0" marL="0">
              <a:buNone/>
            </a:pPr>
            <a:r>
              <a:rPr lang="en-US" sz="1100" dirty="0">
                <a:solidFill>
                  <a:srgbClr val="718096"/>
                </a:solidFill>
                <a:latin typeface="Calibri" pitchFamily="34" charset="0"/>
                <a:ea typeface="Calibri" pitchFamily="34" charset="-122"/>
                <a:cs typeface="Calibri" pitchFamily="34" charset="-120"/>
              </a:rPr>
              <a:t>Exclusions: 3 HC1 subjects (no age/sex), 2 CVX2 controls, GT1 transplant cohort. Blood/PBL tissue only.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Participant Demographics</a:t>
            </a:r>
            <a:endParaRPr lang="en-US" sz="3600" dirty="0"/>
          </a:p>
        </p:txBody>
      </p:sp>
      <p:pic>
        <p:nvPicPr>
          <p:cNvPr id="3" name="Image 0" descr="preencoded.png">    </p:cNvPr>
          <p:cNvPicPr>
            <a:picLocks noChangeAspect="1"/>
          </p:cNvPicPr>
          <p:nvPr/>
        </p:nvPicPr>
        <p:blipFill>
          <a:blip r:embed="rId1"/>
          <a:stretch>
            <a:fillRect/>
          </a:stretch>
        </p:blipFill>
        <p:spPr>
          <a:xfrm>
            <a:off x="457200" y="1097280"/>
            <a:ext cx="7772400" cy="4572000"/>
          </a:xfrm>
          <a:prstGeom prst="rect">
            <a:avLst/>
          </a:prstGeom>
        </p:spPr>
      </p:pic>
      <p:sp>
        <p:nvSpPr>
          <p:cNvPr id="4" name="Shape 1"/>
          <p:cNvSpPr/>
          <p:nvPr/>
        </p:nvSpPr>
        <p:spPr>
          <a:xfrm>
            <a:off x="8503920" y="1188720"/>
            <a:ext cx="3200400" cy="4114800"/>
          </a:xfrm>
          <a:prstGeom prst="roundRect">
            <a:avLst>
              <a:gd name="adj" fmla="val 4286"/>
            </a:avLst>
          </a:prstGeom>
          <a:solidFill>
            <a:srgbClr val="F0F4F8"/>
          </a:solidFill>
          <a:ln/>
        </p:spPr>
      </p:sp>
      <p:sp>
        <p:nvSpPr>
          <p:cNvPr id="5" name="Text 2"/>
          <p:cNvSpPr/>
          <p:nvPr/>
        </p:nvSpPr>
        <p:spPr>
          <a:xfrm>
            <a:off x="8686800" y="1371600"/>
            <a:ext cx="2834640" cy="365760"/>
          </a:xfrm>
          <a:prstGeom prst="rect">
            <a:avLst/>
          </a:prstGeom>
          <a:noFill/>
          <a:ln/>
        </p:spPr>
        <p:txBody>
          <a:bodyPr wrap="square" lIns="0" tIns="0" rIns="0" bIns="0" rtlCol="0" anchor="ctr"/>
          <a:lstStyle/>
          <a:p>
            <a:pPr indent="0" marL="0">
              <a:buNone/>
            </a:pPr>
            <a:r>
              <a:rPr lang="en-US" sz="1600" b="1" dirty="0">
                <a:solidFill>
                  <a:srgbClr val="1A2744"/>
                </a:solidFill>
                <a:latin typeface="Calibri" pitchFamily="34" charset="0"/>
                <a:ea typeface="Calibri" pitchFamily="34" charset="-122"/>
                <a:cs typeface="Calibri" pitchFamily="34" charset="-120"/>
              </a:rPr>
              <a:t>Key Demographics</a:t>
            </a:r>
            <a:endParaRPr lang="en-US" sz="1600" dirty="0"/>
          </a:p>
        </p:txBody>
      </p:sp>
      <p:sp>
        <p:nvSpPr>
          <p:cNvPr id="6" name="Text 3"/>
          <p:cNvSpPr/>
          <p:nvPr/>
        </p:nvSpPr>
        <p:spPr>
          <a:xfrm>
            <a:off x="8686800" y="1920240"/>
            <a:ext cx="2834640" cy="411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Age range: 18–87 years</a:t>
            </a:r>
            <a:endParaRPr lang="en-US" sz="1300" dirty="0"/>
          </a:p>
        </p:txBody>
      </p:sp>
      <p:sp>
        <p:nvSpPr>
          <p:cNvPr id="7" name="Text 4"/>
          <p:cNvSpPr/>
          <p:nvPr/>
        </p:nvSpPr>
        <p:spPr>
          <a:xfrm>
            <a:off x="8686800" y="2423160"/>
            <a:ext cx="2834640" cy="411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52 Male, 34 Female, 14 NA</a:t>
            </a:r>
            <a:endParaRPr lang="en-US" sz="1300" dirty="0"/>
          </a:p>
        </p:txBody>
      </p:sp>
      <p:sp>
        <p:nvSpPr>
          <p:cNvPr id="8" name="Text 5"/>
          <p:cNvSpPr/>
          <p:nvPr/>
        </p:nvSpPr>
        <p:spPr>
          <a:xfrm>
            <a:off x="8686800" y="2926080"/>
            <a:ext cx="2834640" cy="411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Median age: 48 years</a:t>
            </a:r>
            <a:endParaRPr lang="en-US" sz="1300" dirty="0"/>
          </a:p>
        </p:txBody>
      </p:sp>
      <p:sp>
        <p:nvSpPr>
          <p:cNvPr id="9" name="Text 6"/>
          <p:cNvSpPr/>
          <p:nvPr/>
        </p:nvSpPr>
        <p:spPr>
          <a:xfrm>
            <a:off x="8686800" y="3429000"/>
            <a:ext cx="2834640" cy="411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CD1 dominates Severe &amp; Mild</a:t>
            </a:r>
            <a:endParaRPr lang="en-US" sz="1300" dirty="0"/>
          </a:p>
        </p:txBody>
      </p:sp>
      <p:sp>
        <p:nvSpPr>
          <p:cNvPr id="10" name="Text 7"/>
          <p:cNvSpPr/>
          <p:nvPr/>
        </p:nvSpPr>
        <p:spPr>
          <a:xfrm>
            <a:off x="8686800" y="3931920"/>
            <a:ext cx="2834640" cy="411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CVX1 = all COVID Naive</a:t>
            </a:r>
            <a:endParaRPr lang="en-US" sz="1300" dirty="0"/>
          </a:p>
        </p:txBody>
      </p:sp>
      <p:sp>
        <p:nvSpPr>
          <p:cNvPr id="11" name="Text 8"/>
          <p:cNvSpPr/>
          <p:nvPr/>
        </p:nvSpPr>
        <p:spPr>
          <a:xfrm>
            <a:off x="8686800" y="4434840"/>
            <a:ext cx="2834640" cy="411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HC1 = all Healthy controls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Clonal Analysis by Sex &amp; Disease</a:t>
            </a:r>
            <a:endParaRPr lang="en-US" sz="3600" dirty="0"/>
          </a:p>
        </p:txBody>
      </p:sp>
      <p:pic>
        <p:nvPicPr>
          <p:cNvPr id="3" name="Image 0" descr="preencoded.png">    </p:cNvPr>
          <p:cNvPicPr>
            <a:picLocks noChangeAspect="1"/>
          </p:cNvPicPr>
          <p:nvPr/>
        </p:nvPicPr>
        <p:blipFill>
          <a:blip r:embed="rId1"/>
          <a:stretch>
            <a:fillRect/>
          </a:stretch>
        </p:blipFill>
        <p:spPr>
          <a:xfrm>
            <a:off x="274320" y="1097280"/>
            <a:ext cx="5486400" cy="3657600"/>
          </a:xfrm>
          <a:prstGeom prst="rect">
            <a:avLst/>
          </a:prstGeom>
        </p:spPr>
      </p:pic>
      <p:pic>
        <p:nvPicPr>
          <p:cNvPr id="4" name="Image 1" descr="preencoded.png">    </p:cNvPr>
          <p:cNvPicPr>
            <a:picLocks noChangeAspect="1"/>
          </p:cNvPicPr>
          <p:nvPr/>
        </p:nvPicPr>
        <p:blipFill>
          <a:blip r:embed="rId2"/>
          <a:stretch>
            <a:fillRect/>
          </a:stretch>
        </p:blipFill>
        <p:spPr>
          <a:xfrm>
            <a:off x="5943600" y="1097280"/>
            <a:ext cx="5486400" cy="3657600"/>
          </a:xfrm>
          <a:prstGeom prst="rect">
            <a:avLst/>
          </a:prstGeom>
        </p:spPr>
      </p:pic>
      <p:sp>
        <p:nvSpPr>
          <p:cNvPr id="5" name="Text 1"/>
          <p:cNvSpPr/>
          <p:nvPr/>
        </p:nvSpPr>
        <p:spPr>
          <a:xfrm>
            <a:off x="45720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Mutation Count by Sex &amp; Disease (Top 10 Clones)</a:t>
            </a:r>
            <a:endParaRPr lang="en-US" sz="1100" dirty="0"/>
          </a:p>
        </p:txBody>
      </p:sp>
      <p:sp>
        <p:nvSpPr>
          <p:cNvPr id="6" name="Text 2"/>
          <p:cNvSpPr/>
          <p:nvPr/>
        </p:nvSpPr>
        <p:spPr>
          <a:xfrm>
            <a:off x="612648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CDR3 Length by Sex &amp; Disease (Top 10 Clones)</a:t>
            </a:r>
            <a:endParaRPr lang="en-US" sz="1100" dirty="0"/>
          </a:p>
        </p:txBody>
      </p:sp>
      <p:sp>
        <p:nvSpPr>
          <p:cNvPr id="7" name="Shape 3"/>
          <p:cNvSpPr/>
          <p:nvPr/>
        </p:nvSpPr>
        <p:spPr>
          <a:xfrm>
            <a:off x="731520" y="5120640"/>
            <a:ext cx="10515600" cy="1097280"/>
          </a:xfrm>
          <a:prstGeom prst="roundRect">
            <a:avLst>
              <a:gd name="adj" fmla="val 8333"/>
            </a:avLst>
          </a:prstGeom>
          <a:solidFill>
            <a:srgbClr val="F0F4F8"/>
          </a:solidFill>
          <a:ln/>
        </p:spPr>
      </p:sp>
      <p:sp>
        <p:nvSpPr>
          <p:cNvPr id="8" name="Text 4"/>
          <p:cNvSpPr/>
          <p:nvPr/>
        </p:nvSpPr>
        <p:spPr>
          <a:xfrm>
            <a:off x="914400" y="5212080"/>
            <a:ext cx="10149840" cy="9144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Sex-stratified analysis of top 10 expanded clones reveals subtle differences in mutation burden and CDR3 length across disease categories. These patterns suggest that sex may modulate the BCR repertoire response to COVID-19, though larger cohorts are needed to confirm significance.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Clone Size Distribution</a:t>
            </a:r>
            <a:endParaRPr lang="en-US" sz="3600" dirty="0"/>
          </a:p>
        </p:txBody>
      </p:sp>
      <p:sp>
        <p:nvSpPr>
          <p:cNvPr id="3" name="Text 1"/>
          <p:cNvSpPr/>
          <p:nvPr/>
        </p:nvSpPr>
        <p:spPr>
          <a:xfrm>
            <a:off x="731520" y="914400"/>
            <a:ext cx="10515600" cy="365760"/>
          </a:xfrm>
          <a:prstGeom prst="rect">
            <a:avLst/>
          </a:prstGeom>
          <a:noFill/>
          <a:ln/>
        </p:spPr>
        <p:txBody>
          <a:bodyPr wrap="square"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Unique sequences per clone (clones with ≥20 unique sequences)</a:t>
            </a:r>
            <a:endParaRPr lang="en-US" sz="1400" dirty="0"/>
          </a:p>
        </p:txBody>
      </p:sp>
      <p:pic>
        <p:nvPicPr>
          <p:cNvPr id="4" name="Image 0" descr="preencoded.png">    </p:cNvPr>
          <p:cNvPicPr>
            <a:picLocks noChangeAspect="1"/>
          </p:cNvPicPr>
          <p:nvPr/>
        </p:nvPicPr>
        <p:blipFill>
          <a:blip r:embed="rId1"/>
          <a:stretch>
            <a:fillRect/>
          </a:stretch>
        </p:blipFill>
        <p:spPr>
          <a:xfrm>
            <a:off x="274320" y="1371600"/>
            <a:ext cx="6858000" cy="4572000"/>
          </a:xfrm>
          <a:prstGeom prst="rect">
            <a:avLst/>
          </a:prstGeom>
        </p:spPr>
      </p:pic>
      <p:sp>
        <p:nvSpPr>
          <p:cNvPr id="5" name="Shape 2"/>
          <p:cNvSpPr/>
          <p:nvPr/>
        </p:nvSpPr>
        <p:spPr>
          <a:xfrm>
            <a:off x="7498080" y="1371600"/>
            <a:ext cx="4206240" cy="4389120"/>
          </a:xfrm>
          <a:prstGeom prst="roundRect">
            <a:avLst>
              <a:gd name="adj" fmla="val 3261"/>
            </a:avLst>
          </a:prstGeom>
          <a:solidFill>
            <a:srgbClr val="F0F4F8"/>
          </a:solidFill>
          <a:ln/>
        </p:spPr>
      </p:sp>
      <p:sp>
        <p:nvSpPr>
          <p:cNvPr id="6" name="Text 3"/>
          <p:cNvSpPr/>
          <p:nvPr/>
        </p:nvSpPr>
        <p:spPr>
          <a:xfrm>
            <a:off x="7680960" y="1554480"/>
            <a:ext cx="3840480" cy="365760"/>
          </a:xfrm>
          <a:prstGeom prst="rect">
            <a:avLst/>
          </a:prstGeom>
          <a:noFill/>
          <a:ln/>
        </p:spPr>
        <p:txBody>
          <a:bodyPr wrap="square" lIns="0" tIns="0" rIns="0" bIns="0" rtlCol="0" anchor="ctr"/>
          <a:lstStyle/>
          <a:p>
            <a:pPr indent="0" marL="0">
              <a:buNone/>
            </a:pPr>
            <a:r>
              <a:rPr lang="en-US" sz="1600" b="1" dirty="0">
                <a:solidFill>
                  <a:srgbClr val="1A2744"/>
                </a:solidFill>
                <a:latin typeface="Calibri" pitchFamily="34" charset="0"/>
                <a:ea typeface="Calibri" pitchFamily="34" charset="-122"/>
                <a:cs typeface="Calibri" pitchFamily="34" charset="-120"/>
              </a:rPr>
              <a:t>Key Findings</a:t>
            </a:r>
            <a:endParaRPr lang="en-US" sz="1600" dirty="0"/>
          </a:p>
        </p:txBody>
      </p:sp>
      <p:sp>
        <p:nvSpPr>
          <p:cNvPr id="7" name="Text 4"/>
          <p:cNvSpPr/>
          <p:nvPr/>
        </p:nvSpPr>
        <p:spPr>
          <a:xfrm>
            <a:off x="7680960" y="2103120"/>
            <a:ext cx="3840480" cy="5486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COVID Naive shows highest median clone size and widest distribution</a:t>
            </a:r>
            <a:endParaRPr lang="en-US" sz="1200" dirty="0"/>
          </a:p>
        </p:txBody>
      </p:sp>
      <p:sp>
        <p:nvSpPr>
          <p:cNvPr id="8" name="Text 5"/>
          <p:cNvSpPr/>
          <p:nvPr/>
        </p:nvSpPr>
        <p:spPr>
          <a:xfrm>
            <a:off x="7680960" y="2743200"/>
            <a:ext cx="3840480" cy="5486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Severe has the heaviest upper tail (max ~8,600 unique sequences)</a:t>
            </a:r>
            <a:endParaRPr lang="en-US" sz="1200" dirty="0"/>
          </a:p>
        </p:txBody>
      </p:sp>
      <p:sp>
        <p:nvSpPr>
          <p:cNvPr id="9" name="Text 6"/>
          <p:cNvSpPr/>
          <p:nvPr/>
        </p:nvSpPr>
        <p:spPr>
          <a:xfrm>
            <a:off x="7680960" y="3383280"/>
            <a:ext cx="3840480" cy="5486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Mild shows most heterogeneous pattern across subjects</a:t>
            </a:r>
            <a:endParaRPr lang="en-US" sz="1200" dirty="0"/>
          </a:p>
        </p:txBody>
      </p:sp>
      <p:sp>
        <p:nvSpPr>
          <p:cNvPr id="10" name="Text 7"/>
          <p:cNvSpPr/>
          <p:nvPr/>
        </p:nvSpPr>
        <p:spPr>
          <a:xfrm>
            <a:off x="7680960" y="4023360"/>
            <a:ext cx="3840480" cy="5486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Healthy (HC1) has compact distribution, consistent with diverse unexpanded repertoire</a:t>
            </a:r>
            <a:endParaRPr lang="en-US" sz="1200" dirty="0"/>
          </a:p>
        </p:txBody>
      </p:sp>
      <p:sp>
        <p:nvSpPr>
          <p:cNvPr id="11" name="Text 8"/>
          <p:cNvSpPr/>
          <p:nvPr/>
        </p:nvSpPr>
        <p:spPr>
          <a:xfrm>
            <a:off x="7680960" y="4663440"/>
            <a:ext cx="3840480" cy="5486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All groups show right-skewed distributions on log scale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Clone Count by Disease Category</a:t>
            </a:r>
            <a:endParaRPr lang="en-US" sz="3600" dirty="0"/>
          </a:p>
        </p:txBody>
      </p:sp>
      <p:sp>
        <p:nvSpPr>
          <p:cNvPr id="3" name="Text 1"/>
          <p:cNvSpPr/>
          <p:nvPr/>
        </p:nvSpPr>
        <p:spPr>
          <a:xfrm>
            <a:off x="731520" y="914400"/>
            <a:ext cx="10515600" cy="365760"/>
          </a:xfrm>
          <a:prstGeom prst="rect">
            <a:avLst/>
          </a:prstGeom>
          <a:noFill/>
          <a:ln/>
        </p:spPr>
        <p:txBody>
          <a:bodyPr wrap="square"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Number of distinct clones per subject across disease severities</a:t>
            </a:r>
            <a:endParaRPr lang="en-US" sz="1400" dirty="0"/>
          </a:p>
        </p:txBody>
      </p:sp>
      <p:pic>
        <p:nvPicPr>
          <p:cNvPr id="4" name="Image 0" descr="preencoded.png">    </p:cNvPr>
          <p:cNvPicPr>
            <a:picLocks noChangeAspect="1"/>
          </p:cNvPicPr>
          <p:nvPr/>
        </p:nvPicPr>
        <p:blipFill>
          <a:blip r:embed="rId1"/>
          <a:stretch>
            <a:fillRect/>
          </a:stretch>
        </p:blipFill>
        <p:spPr>
          <a:xfrm>
            <a:off x="274320" y="1371600"/>
            <a:ext cx="6858000" cy="4572000"/>
          </a:xfrm>
          <a:prstGeom prst="rect">
            <a:avLst/>
          </a:prstGeom>
        </p:spPr>
      </p:pic>
      <p:sp>
        <p:nvSpPr>
          <p:cNvPr id="5" name="Shape 2"/>
          <p:cNvSpPr/>
          <p:nvPr/>
        </p:nvSpPr>
        <p:spPr>
          <a:xfrm>
            <a:off x="7498080" y="1371600"/>
            <a:ext cx="4206240" cy="4389120"/>
          </a:xfrm>
          <a:prstGeom prst="roundRect">
            <a:avLst>
              <a:gd name="adj" fmla="val 3261"/>
            </a:avLst>
          </a:prstGeom>
          <a:solidFill>
            <a:srgbClr val="F0F4F8"/>
          </a:solidFill>
          <a:ln/>
        </p:spPr>
      </p:sp>
      <p:sp>
        <p:nvSpPr>
          <p:cNvPr id="6" name="Text 3"/>
          <p:cNvSpPr/>
          <p:nvPr/>
        </p:nvSpPr>
        <p:spPr>
          <a:xfrm>
            <a:off x="7680960" y="1554480"/>
            <a:ext cx="3840480" cy="365760"/>
          </a:xfrm>
          <a:prstGeom prst="rect">
            <a:avLst/>
          </a:prstGeom>
          <a:noFill/>
          <a:ln/>
        </p:spPr>
        <p:txBody>
          <a:bodyPr wrap="square" lIns="0" tIns="0" rIns="0" bIns="0" rtlCol="0" anchor="ctr"/>
          <a:lstStyle/>
          <a:p>
            <a:pPr indent="0" marL="0">
              <a:buNone/>
            </a:pPr>
            <a:r>
              <a:rPr lang="en-US" sz="1600" b="1" dirty="0">
                <a:solidFill>
                  <a:srgbClr val="1A2744"/>
                </a:solidFill>
                <a:latin typeface="Calibri" pitchFamily="34" charset="0"/>
                <a:ea typeface="Calibri" pitchFamily="34" charset="-122"/>
                <a:cs typeface="Calibri" pitchFamily="34" charset="-120"/>
              </a:rPr>
              <a:t>Key Findings</a:t>
            </a:r>
            <a:endParaRPr lang="en-US" sz="1600" dirty="0"/>
          </a:p>
        </p:txBody>
      </p:sp>
      <p:sp>
        <p:nvSpPr>
          <p:cNvPr id="7" name="Text 4"/>
          <p:cNvSpPr/>
          <p:nvPr/>
        </p:nvSpPr>
        <p:spPr>
          <a:xfrm>
            <a:off x="7680960" y="210312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Clone count reflects B cell diversity within each subject's repertoire</a:t>
            </a:r>
            <a:endParaRPr lang="en-US" sz="1200" dirty="0"/>
          </a:p>
        </p:txBody>
      </p:sp>
      <p:sp>
        <p:nvSpPr>
          <p:cNvPr id="8" name="Text 5"/>
          <p:cNvSpPr/>
          <p:nvPr/>
        </p:nvSpPr>
        <p:spPr>
          <a:xfrm>
            <a:off x="7680960" y="283464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Severe COVID patients show variable clone counts, reflecting heterogeneous immune responses</a:t>
            </a:r>
            <a:endParaRPr lang="en-US" sz="1200" dirty="0"/>
          </a:p>
        </p:txBody>
      </p:sp>
      <p:sp>
        <p:nvSpPr>
          <p:cNvPr id="9" name="Text 6"/>
          <p:cNvSpPr/>
          <p:nvPr/>
        </p:nvSpPr>
        <p:spPr>
          <a:xfrm>
            <a:off x="7680960" y="356616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Healthy controls (HC1) show consistently lower clone counts</a:t>
            </a:r>
            <a:endParaRPr lang="en-US" sz="1200" dirty="0"/>
          </a:p>
        </p:txBody>
      </p:sp>
      <p:sp>
        <p:nvSpPr>
          <p:cNvPr id="10" name="Text 7"/>
          <p:cNvSpPr/>
          <p:nvPr/>
        </p:nvSpPr>
        <p:spPr>
          <a:xfrm>
            <a:off x="7680960" y="429768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Higher clone counts in Mild/Recovered may indicate broader polyclonal activation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Expanded Clones Analysis</a:t>
            </a:r>
            <a:endParaRPr lang="en-US" sz="3600" dirty="0"/>
          </a:p>
        </p:txBody>
      </p:sp>
      <p:pic>
        <p:nvPicPr>
          <p:cNvPr id="3" name="Image 0" descr="preencoded.png">    </p:cNvPr>
          <p:cNvPicPr>
            <a:picLocks noChangeAspect="1"/>
          </p:cNvPicPr>
          <p:nvPr/>
        </p:nvPicPr>
        <p:blipFill>
          <a:blip r:embed="rId1"/>
          <a:stretch>
            <a:fillRect/>
          </a:stretch>
        </p:blipFill>
        <p:spPr>
          <a:xfrm>
            <a:off x="274320" y="1097280"/>
            <a:ext cx="5486400" cy="3657600"/>
          </a:xfrm>
          <a:prstGeom prst="rect">
            <a:avLst/>
          </a:prstGeom>
        </p:spPr>
      </p:pic>
      <p:pic>
        <p:nvPicPr>
          <p:cNvPr id="4" name="Image 1" descr="preencoded.png">    </p:cNvPr>
          <p:cNvPicPr>
            <a:picLocks noChangeAspect="1"/>
          </p:cNvPicPr>
          <p:nvPr/>
        </p:nvPicPr>
        <p:blipFill>
          <a:blip r:embed="rId2"/>
          <a:stretch>
            <a:fillRect/>
          </a:stretch>
        </p:blipFill>
        <p:spPr>
          <a:xfrm>
            <a:off x="5943600" y="1097280"/>
            <a:ext cx="5486400" cy="3657600"/>
          </a:xfrm>
          <a:prstGeom prst="rect">
            <a:avLst/>
          </a:prstGeom>
        </p:spPr>
      </p:pic>
      <p:sp>
        <p:nvSpPr>
          <p:cNvPr id="5" name="Text 1"/>
          <p:cNvSpPr/>
          <p:nvPr/>
        </p:nvSpPr>
        <p:spPr>
          <a:xfrm>
            <a:off x="45720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Count of Expanded Clones (&gt;100 unique seqs)</a:t>
            </a:r>
            <a:endParaRPr lang="en-US" sz="1100" dirty="0"/>
          </a:p>
        </p:txBody>
      </p:sp>
      <p:sp>
        <p:nvSpPr>
          <p:cNvPr id="6" name="Text 2"/>
          <p:cNvSpPr/>
          <p:nvPr/>
        </p:nvSpPr>
        <p:spPr>
          <a:xfrm>
            <a:off x="612648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Mean Size of Expanded Clones</a:t>
            </a:r>
            <a:endParaRPr lang="en-US" sz="1100" dirty="0"/>
          </a:p>
        </p:txBody>
      </p:sp>
      <p:sp>
        <p:nvSpPr>
          <p:cNvPr id="7" name="Shape 3"/>
          <p:cNvSpPr/>
          <p:nvPr/>
        </p:nvSpPr>
        <p:spPr>
          <a:xfrm>
            <a:off x="731520" y="5120640"/>
            <a:ext cx="10515600" cy="1097280"/>
          </a:xfrm>
          <a:prstGeom prst="roundRect">
            <a:avLst>
              <a:gd name="adj" fmla="val 8333"/>
            </a:avLst>
          </a:prstGeom>
          <a:solidFill>
            <a:srgbClr val="F0F4F8"/>
          </a:solidFill>
          <a:ln/>
        </p:spPr>
      </p:sp>
      <p:sp>
        <p:nvSpPr>
          <p:cNvPr id="8" name="Text 4"/>
          <p:cNvSpPr/>
          <p:nvPr/>
        </p:nvSpPr>
        <p:spPr>
          <a:xfrm>
            <a:off x="914400" y="5212080"/>
            <a:ext cx="10149840" cy="9144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Expanded clones (&gt;100 unique sequences) represent antigen-driven clonal expansion. Severe and COVID Naive groups show the highest expansion counts, while expanded clone size reveals the magnitude of individual clonal responses.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Replacement/Silent Mutation Ratio</a:t>
            </a:r>
            <a:endParaRPr lang="en-US" sz="3600" dirty="0"/>
          </a:p>
        </p:txBody>
      </p:sp>
      <p:sp>
        <p:nvSpPr>
          <p:cNvPr id="3" name="Text 1"/>
          <p:cNvSpPr/>
          <p:nvPr/>
        </p:nvSpPr>
        <p:spPr>
          <a:xfrm>
            <a:off x="731520" y="914400"/>
            <a:ext cx="10515600" cy="365760"/>
          </a:xfrm>
          <a:prstGeom prst="rect">
            <a:avLst/>
          </a:prstGeom>
          <a:noFill/>
          <a:ln/>
        </p:spPr>
        <p:txBody>
          <a:bodyPr wrap="square"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R/S ratio as a measure of antigen-driven selection pressure</a:t>
            </a:r>
            <a:endParaRPr lang="en-US" sz="1400" dirty="0"/>
          </a:p>
        </p:txBody>
      </p:sp>
      <p:pic>
        <p:nvPicPr>
          <p:cNvPr id="4" name="Image 0" descr="preencoded.png">    </p:cNvPr>
          <p:cNvPicPr>
            <a:picLocks noChangeAspect="1"/>
          </p:cNvPicPr>
          <p:nvPr/>
        </p:nvPicPr>
        <p:blipFill>
          <a:blip r:embed="rId1"/>
          <a:stretch>
            <a:fillRect/>
          </a:stretch>
        </p:blipFill>
        <p:spPr>
          <a:xfrm>
            <a:off x="274320" y="1371600"/>
            <a:ext cx="6858000" cy="4572000"/>
          </a:xfrm>
          <a:prstGeom prst="rect">
            <a:avLst/>
          </a:prstGeom>
        </p:spPr>
      </p:pic>
      <p:sp>
        <p:nvSpPr>
          <p:cNvPr id="5" name="Shape 2"/>
          <p:cNvSpPr/>
          <p:nvPr/>
        </p:nvSpPr>
        <p:spPr>
          <a:xfrm>
            <a:off x="7498080" y="1371600"/>
            <a:ext cx="4206240" cy="4389120"/>
          </a:xfrm>
          <a:prstGeom prst="roundRect">
            <a:avLst>
              <a:gd name="adj" fmla="val 3261"/>
            </a:avLst>
          </a:prstGeom>
          <a:solidFill>
            <a:srgbClr val="F0F4F8"/>
          </a:solidFill>
          <a:ln/>
        </p:spPr>
      </p:sp>
      <p:sp>
        <p:nvSpPr>
          <p:cNvPr id="6" name="Text 3"/>
          <p:cNvSpPr/>
          <p:nvPr/>
        </p:nvSpPr>
        <p:spPr>
          <a:xfrm>
            <a:off x="7680960" y="1554480"/>
            <a:ext cx="3840480" cy="365760"/>
          </a:xfrm>
          <a:prstGeom prst="rect">
            <a:avLst/>
          </a:prstGeom>
          <a:noFill/>
          <a:ln/>
        </p:spPr>
        <p:txBody>
          <a:bodyPr wrap="square" lIns="0" tIns="0" rIns="0" bIns="0" rtlCol="0" anchor="ctr"/>
          <a:lstStyle/>
          <a:p>
            <a:pPr indent="0" marL="0">
              <a:buNone/>
            </a:pPr>
            <a:r>
              <a:rPr lang="en-US" sz="1600" b="1" dirty="0">
                <a:solidFill>
                  <a:srgbClr val="1A2744"/>
                </a:solidFill>
                <a:latin typeface="Calibri" pitchFamily="34" charset="0"/>
                <a:ea typeface="Calibri" pitchFamily="34" charset="-122"/>
                <a:cs typeface="Calibri" pitchFamily="34" charset="-120"/>
              </a:rPr>
              <a:t>Key Findings</a:t>
            </a:r>
            <a:endParaRPr lang="en-US" sz="1600" dirty="0"/>
          </a:p>
        </p:txBody>
      </p:sp>
      <p:sp>
        <p:nvSpPr>
          <p:cNvPr id="7" name="Text 4"/>
          <p:cNvSpPr/>
          <p:nvPr/>
        </p:nvSpPr>
        <p:spPr>
          <a:xfrm>
            <a:off x="7680960" y="210312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R/S ratio &gt; 1 indicates positive selection — replacement mutations are favored over silent ones</a:t>
            </a:r>
            <a:endParaRPr lang="en-US" sz="1200" dirty="0"/>
          </a:p>
        </p:txBody>
      </p:sp>
      <p:sp>
        <p:nvSpPr>
          <p:cNvPr id="8" name="Text 5"/>
          <p:cNvSpPr/>
          <p:nvPr/>
        </p:nvSpPr>
        <p:spPr>
          <a:xfrm>
            <a:off x="7680960" y="283464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Higher R/S in CDR regions vs framework reflects antigen-driven selection in binding sites</a:t>
            </a:r>
            <a:endParaRPr lang="en-US" sz="1200" dirty="0"/>
          </a:p>
        </p:txBody>
      </p:sp>
      <p:sp>
        <p:nvSpPr>
          <p:cNvPr id="9" name="Text 6"/>
          <p:cNvSpPr/>
          <p:nvPr/>
        </p:nvSpPr>
        <p:spPr>
          <a:xfrm>
            <a:off x="7680960" y="356616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COVID Naive and Recovered groups show elevated R/S ratios consistent with affinity maturation</a:t>
            </a:r>
            <a:endParaRPr lang="en-US" sz="1200" dirty="0"/>
          </a:p>
        </p:txBody>
      </p:sp>
      <p:sp>
        <p:nvSpPr>
          <p:cNvPr id="10" name="Text 7"/>
          <p:cNvSpPr/>
          <p:nvPr/>
        </p:nvSpPr>
        <p:spPr>
          <a:xfrm>
            <a:off x="7680960" y="4297680"/>
            <a:ext cx="3840480" cy="6400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Healthy controls show baseline R/S levels expected for unselected repertoires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Somatic Hypermutation Analysis</a:t>
            </a:r>
            <a:endParaRPr lang="en-US" sz="3600" dirty="0"/>
          </a:p>
        </p:txBody>
      </p:sp>
      <p:pic>
        <p:nvPicPr>
          <p:cNvPr id="3" name="Image 0" descr="preencoded.png">    </p:cNvPr>
          <p:cNvPicPr>
            <a:picLocks noChangeAspect="1"/>
          </p:cNvPicPr>
          <p:nvPr/>
        </p:nvPicPr>
        <p:blipFill>
          <a:blip r:embed="rId1"/>
          <a:stretch>
            <a:fillRect/>
          </a:stretch>
        </p:blipFill>
        <p:spPr>
          <a:xfrm>
            <a:off x="274320" y="1097280"/>
            <a:ext cx="5486400" cy="3657600"/>
          </a:xfrm>
          <a:prstGeom prst="rect">
            <a:avLst/>
          </a:prstGeom>
        </p:spPr>
      </p:pic>
      <p:pic>
        <p:nvPicPr>
          <p:cNvPr id="4" name="Image 1" descr="preencoded.png">    </p:cNvPr>
          <p:cNvPicPr>
            <a:picLocks noChangeAspect="1"/>
          </p:cNvPicPr>
          <p:nvPr/>
        </p:nvPicPr>
        <p:blipFill>
          <a:blip r:embed="rId2"/>
          <a:stretch>
            <a:fillRect/>
          </a:stretch>
        </p:blipFill>
        <p:spPr>
          <a:xfrm>
            <a:off x="5943600" y="1097280"/>
            <a:ext cx="5486400" cy="3657600"/>
          </a:xfrm>
          <a:prstGeom prst="rect">
            <a:avLst/>
          </a:prstGeom>
        </p:spPr>
      </p:pic>
      <p:sp>
        <p:nvSpPr>
          <p:cNvPr id="5" name="Text 1"/>
          <p:cNvSpPr/>
          <p:nvPr/>
        </p:nvSpPr>
        <p:spPr>
          <a:xfrm>
            <a:off x="45720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Mutation Count (Top 10 Clones)</a:t>
            </a:r>
            <a:endParaRPr lang="en-US" sz="1100" dirty="0"/>
          </a:p>
        </p:txBody>
      </p:sp>
      <p:sp>
        <p:nvSpPr>
          <p:cNvPr id="6" name="Text 2"/>
          <p:cNvSpPr/>
          <p:nvPr/>
        </p:nvSpPr>
        <p:spPr>
          <a:xfrm>
            <a:off x="612648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CDR Region Mutations</a:t>
            </a:r>
            <a:endParaRPr lang="en-US" sz="1100" dirty="0"/>
          </a:p>
        </p:txBody>
      </p:sp>
      <p:sp>
        <p:nvSpPr>
          <p:cNvPr id="7" name="Shape 3"/>
          <p:cNvSpPr/>
          <p:nvPr/>
        </p:nvSpPr>
        <p:spPr>
          <a:xfrm>
            <a:off x="731520" y="5120640"/>
            <a:ext cx="10515600" cy="1097280"/>
          </a:xfrm>
          <a:prstGeom prst="roundRect">
            <a:avLst>
              <a:gd name="adj" fmla="val 8333"/>
            </a:avLst>
          </a:prstGeom>
          <a:solidFill>
            <a:srgbClr val="F0F4F8"/>
          </a:solidFill>
          <a:ln/>
        </p:spPr>
      </p:sp>
      <p:sp>
        <p:nvSpPr>
          <p:cNvPr id="8" name="Text 4"/>
          <p:cNvSpPr/>
          <p:nvPr/>
        </p:nvSpPr>
        <p:spPr>
          <a:xfrm>
            <a:off x="914400" y="5212080"/>
            <a:ext cx="10149840" cy="9144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Mutation counts represent unique nucleotide positions differing from germline. Higher mutation in COVID Naive and Recovered groups suggests mature, affinity-selected B cell responses. CDR mutations indicate antigen-driven selection.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10515600" cy="731520"/>
          </a:xfrm>
          <a:prstGeom prst="rect">
            <a:avLst/>
          </a:prstGeom>
          <a:noFill/>
          <a:ln/>
        </p:spPr>
        <p:txBody>
          <a:bodyPr wrap="square" rtlCol="0" anchor="ctr"/>
          <a:lstStyle/>
          <a:p>
            <a:pPr indent="0" marL="0">
              <a:buNone/>
            </a:pPr>
            <a:r>
              <a:rPr lang="en-US" sz="3600" b="1" dirty="0">
                <a:solidFill>
                  <a:srgbClr val="1A2744"/>
                </a:solidFill>
                <a:latin typeface="Cambria" pitchFamily="34" charset="0"/>
                <a:ea typeface="Cambria" pitchFamily="34" charset="-122"/>
                <a:cs typeface="Cambria" pitchFamily="34" charset="-120"/>
              </a:rPr>
              <a:t>CDR3 Length Analysis</a:t>
            </a:r>
            <a:endParaRPr lang="en-US" sz="3600" dirty="0"/>
          </a:p>
        </p:txBody>
      </p:sp>
      <p:pic>
        <p:nvPicPr>
          <p:cNvPr id="3" name="Image 0" descr="preencoded.png">    </p:cNvPr>
          <p:cNvPicPr>
            <a:picLocks noChangeAspect="1"/>
          </p:cNvPicPr>
          <p:nvPr/>
        </p:nvPicPr>
        <p:blipFill>
          <a:blip r:embed="rId1"/>
          <a:stretch>
            <a:fillRect/>
          </a:stretch>
        </p:blipFill>
        <p:spPr>
          <a:xfrm>
            <a:off x="274320" y="1097280"/>
            <a:ext cx="5486400" cy="3657600"/>
          </a:xfrm>
          <a:prstGeom prst="rect">
            <a:avLst/>
          </a:prstGeom>
        </p:spPr>
      </p:pic>
      <p:pic>
        <p:nvPicPr>
          <p:cNvPr id="4" name="Image 1" descr="preencoded.png">    </p:cNvPr>
          <p:cNvPicPr>
            <a:picLocks noChangeAspect="1"/>
          </p:cNvPicPr>
          <p:nvPr/>
        </p:nvPicPr>
        <p:blipFill>
          <a:blip r:embed="rId2"/>
          <a:stretch>
            <a:fillRect/>
          </a:stretch>
        </p:blipFill>
        <p:spPr>
          <a:xfrm>
            <a:off x="5943600" y="1097280"/>
            <a:ext cx="5486400" cy="3657600"/>
          </a:xfrm>
          <a:prstGeom prst="rect">
            <a:avLst/>
          </a:prstGeom>
        </p:spPr>
      </p:pic>
      <p:sp>
        <p:nvSpPr>
          <p:cNvPr id="5" name="Text 1"/>
          <p:cNvSpPr/>
          <p:nvPr/>
        </p:nvSpPr>
        <p:spPr>
          <a:xfrm>
            <a:off x="45720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CDR3 Length (Top 10 Clones, AA)</a:t>
            </a:r>
            <a:endParaRPr lang="en-US" sz="1100" dirty="0"/>
          </a:p>
        </p:txBody>
      </p:sp>
      <p:sp>
        <p:nvSpPr>
          <p:cNvPr id="6" name="Text 2"/>
          <p:cNvSpPr/>
          <p:nvPr/>
        </p:nvSpPr>
        <p:spPr>
          <a:xfrm>
            <a:off x="6126480" y="4754880"/>
            <a:ext cx="5303520" cy="274320"/>
          </a:xfrm>
          <a:prstGeom prst="rect">
            <a:avLst/>
          </a:prstGeom>
          <a:noFill/>
          <a:ln/>
        </p:spPr>
        <p:txBody>
          <a:bodyPr wrap="square"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CDR3 Length Range per Subject</a:t>
            </a:r>
            <a:endParaRPr lang="en-US" sz="1100" dirty="0"/>
          </a:p>
        </p:txBody>
      </p:sp>
      <p:sp>
        <p:nvSpPr>
          <p:cNvPr id="7" name="Shape 3"/>
          <p:cNvSpPr/>
          <p:nvPr/>
        </p:nvSpPr>
        <p:spPr>
          <a:xfrm>
            <a:off x="731520" y="5120640"/>
            <a:ext cx="10515600" cy="1097280"/>
          </a:xfrm>
          <a:prstGeom prst="roundRect">
            <a:avLst>
              <a:gd name="adj" fmla="val 8333"/>
            </a:avLst>
          </a:prstGeom>
          <a:solidFill>
            <a:srgbClr val="F0F4F8"/>
          </a:solidFill>
          <a:ln/>
        </p:spPr>
      </p:sp>
      <p:sp>
        <p:nvSpPr>
          <p:cNvPr id="8" name="Text 4"/>
          <p:cNvSpPr/>
          <p:nvPr/>
        </p:nvSpPr>
        <p:spPr>
          <a:xfrm>
            <a:off x="914400" y="5212080"/>
            <a:ext cx="10149840" cy="9144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CDR3 lengths are relatively consistent across disease categories (~15–16 AA for top clones), suggesting the overall structural constraints on antigen binding are preserved. Greater CDR3 range diversity is observed in COVID Naive and Recovered groups.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731520" y="365760"/>
            <a:ext cx="10515600" cy="7315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Summary &amp; Conclusions</a:t>
            </a:r>
            <a:endParaRPr lang="en-US" sz="3600" dirty="0"/>
          </a:p>
        </p:txBody>
      </p:sp>
      <p:sp>
        <p:nvSpPr>
          <p:cNvPr id="3" name="Shape 1"/>
          <p:cNvSpPr/>
          <p:nvPr/>
        </p:nvSpPr>
        <p:spPr>
          <a:xfrm>
            <a:off x="731520" y="1371600"/>
            <a:ext cx="10515600" cy="960120"/>
          </a:xfrm>
          <a:prstGeom prst="roundRect">
            <a:avLst>
              <a:gd name="adj" fmla="val 9524"/>
            </a:avLst>
          </a:prstGeom>
          <a:solidFill>
            <a:srgbClr val="1E3158"/>
          </a:solidFill>
          <a:ln/>
        </p:spPr>
      </p:sp>
      <p:sp>
        <p:nvSpPr>
          <p:cNvPr id="4" name="Shape 2"/>
          <p:cNvSpPr/>
          <p:nvPr/>
        </p:nvSpPr>
        <p:spPr>
          <a:xfrm>
            <a:off x="731520" y="1371600"/>
            <a:ext cx="109728" cy="960120"/>
          </a:xfrm>
          <a:prstGeom prst="rect">
            <a:avLst/>
          </a:prstGeom>
          <a:solidFill>
            <a:srgbClr val="00A896"/>
          </a:solidFill>
          <a:ln/>
        </p:spPr>
      </p:sp>
      <p:sp>
        <p:nvSpPr>
          <p:cNvPr id="5" name="Text 3"/>
          <p:cNvSpPr/>
          <p:nvPr/>
        </p:nvSpPr>
        <p:spPr>
          <a:xfrm>
            <a:off x="1097280" y="1444752"/>
            <a:ext cx="9875520" cy="347472"/>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IS-API enables cross-study analysis</a:t>
            </a:r>
            <a:endParaRPr lang="en-US" sz="1800" dirty="0"/>
          </a:p>
        </p:txBody>
      </p:sp>
      <p:sp>
        <p:nvSpPr>
          <p:cNvPr id="6" name="Text 4"/>
          <p:cNvSpPr/>
          <p:nvPr/>
        </p:nvSpPr>
        <p:spPr>
          <a:xfrm>
            <a:off x="1097280" y="1828800"/>
            <a:ext cx="9875520" cy="41148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Successfully harmonized 103 subjects across 7 databases with 6 disease categories through metadata-driven filtering</a:t>
            </a:r>
            <a:endParaRPr lang="en-US" sz="1400" dirty="0"/>
          </a:p>
        </p:txBody>
      </p:sp>
      <p:sp>
        <p:nvSpPr>
          <p:cNvPr id="7" name="Shape 5"/>
          <p:cNvSpPr/>
          <p:nvPr/>
        </p:nvSpPr>
        <p:spPr>
          <a:xfrm>
            <a:off x="731520" y="2514600"/>
            <a:ext cx="10515600" cy="960120"/>
          </a:xfrm>
          <a:prstGeom prst="roundRect">
            <a:avLst>
              <a:gd name="adj" fmla="val 9524"/>
            </a:avLst>
          </a:prstGeom>
          <a:solidFill>
            <a:srgbClr val="1E3158"/>
          </a:solidFill>
          <a:ln/>
        </p:spPr>
      </p:sp>
      <p:sp>
        <p:nvSpPr>
          <p:cNvPr id="8" name="Shape 6"/>
          <p:cNvSpPr/>
          <p:nvPr/>
        </p:nvSpPr>
        <p:spPr>
          <a:xfrm>
            <a:off x="731520" y="2514600"/>
            <a:ext cx="109728" cy="960120"/>
          </a:xfrm>
          <a:prstGeom prst="rect">
            <a:avLst/>
          </a:prstGeom>
          <a:solidFill>
            <a:srgbClr val="00A896"/>
          </a:solidFill>
          <a:ln/>
        </p:spPr>
      </p:sp>
      <p:sp>
        <p:nvSpPr>
          <p:cNvPr id="9" name="Text 7"/>
          <p:cNvSpPr/>
          <p:nvPr/>
        </p:nvSpPr>
        <p:spPr>
          <a:xfrm>
            <a:off x="1097280" y="2587752"/>
            <a:ext cx="9875520" cy="347472"/>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Disease severity shapes BCR repertoire</a:t>
            </a:r>
            <a:endParaRPr lang="en-US" sz="1800" dirty="0"/>
          </a:p>
        </p:txBody>
      </p:sp>
      <p:sp>
        <p:nvSpPr>
          <p:cNvPr id="10" name="Text 8"/>
          <p:cNvSpPr/>
          <p:nvPr/>
        </p:nvSpPr>
        <p:spPr>
          <a:xfrm>
            <a:off x="1097280" y="2971800"/>
            <a:ext cx="9875520" cy="41148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Systematic differences in clone size, mutation burden, and CDR3 diversity across COVID-19 severity groups</a:t>
            </a:r>
            <a:endParaRPr lang="en-US" sz="1400" dirty="0"/>
          </a:p>
        </p:txBody>
      </p:sp>
      <p:sp>
        <p:nvSpPr>
          <p:cNvPr id="11" name="Shape 9"/>
          <p:cNvSpPr/>
          <p:nvPr/>
        </p:nvSpPr>
        <p:spPr>
          <a:xfrm>
            <a:off x="731520" y="3657600"/>
            <a:ext cx="10515600" cy="960120"/>
          </a:xfrm>
          <a:prstGeom prst="roundRect">
            <a:avLst>
              <a:gd name="adj" fmla="val 9524"/>
            </a:avLst>
          </a:prstGeom>
          <a:solidFill>
            <a:srgbClr val="1E3158"/>
          </a:solidFill>
          <a:ln/>
        </p:spPr>
      </p:sp>
      <p:sp>
        <p:nvSpPr>
          <p:cNvPr id="12" name="Shape 10"/>
          <p:cNvSpPr/>
          <p:nvPr/>
        </p:nvSpPr>
        <p:spPr>
          <a:xfrm>
            <a:off x="731520" y="3657600"/>
            <a:ext cx="109728" cy="960120"/>
          </a:xfrm>
          <a:prstGeom prst="rect">
            <a:avLst/>
          </a:prstGeom>
          <a:solidFill>
            <a:srgbClr val="00A896"/>
          </a:solidFill>
          <a:ln/>
        </p:spPr>
      </p:sp>
      <p:sp>
        <p:nvSpPr>
          <p:cNvPr id="13" name="Text 11"/>
          <p:cNvSpPr/>
          <p:nvPr/>
        </p:nvSpPr>
        <p:spPr>
          <a:xfrm>
            <a:off x="1097280" y="3730752"/>
            <a:ext cx="9875520" cy="347472"/>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COVID Naive shows distinct expansion</a:t>
            </a:r>
            <a:endParaRPr lang="en-US" sz="1800" dirty="0"/>
          </a:p>
        </p:txBody>
      </p:sp>
      <p:sp>
        <p:nvSpPr>
          <p:cNvPr id="14" name="Text 12"/>
          <p:cNvSpPr/>
          <p:nvPr/>
        </p:nvSpPr>
        <p:spPr>
          <a:xfrm>
            <a:off x="1097280" y="4114800"/>
            <a:ext cx="9875520" cy="41148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Highest clonal expansion and mutation counts, suggesting pre-existing mature memory B cell responses</a:t>
            </a:r>
            <a:endParaRPr lang="en-US" sz="1400" dirty="0"/>
          </a:p>
        </p:txBody>
      </p:sp>
      <p:sp>
        <p:nvSpPr>
          <p:cNvPr id="15" name="Shape 13"/>
          <p:cNvSpPr/>
          <p:nvPr/>
        </p:nvSpPr>
        <p:spPr>
          <a:xfrm>
            <a:off x="731520" y="4800600"/>
            <a:ext cx="10515600" cy="960120"/>
          </a:xfrm>
          <a:prstGeom prst="roundRect">
            <a:avLst>
              <a:gd name="adj" fmla="val 9524"/>
            </a:avLst>
          </a:prstGeom>
          <a:solidFill>
            <a:srgbClr val="1E3158"/>
          </a:solidFill>
          <a:ln/>
        </p:spPr>
      </p:sp>
      <p:sp>
        <p:nvSpPr>
          <p:cNvPr id="16" name="Shape 14"/>
          <p:cNvSpPr/>
          <p:nvPr/>
        </p:nvSpPr>
        <p:spPr>
          <a:xfrm>
            <a:off x="731520" y="4800600"/>
            <a:ext cx="109728" cy="960120"/>
          </a:xfrm>
          <a:prstGeom prst="rect">
            <a:avLst/>
          </a:prstGeom>
          <a:solidFill>
            <a:srgbClr val="00A896"/>
          </a:solidFill>
          <a:ln/>
        </p:spPr>
      </p:sp>
      <p:sp>
        <p:nvSpPr>
          <p:cNvPr id="17" name="Text 15"/>
          <p:cNvSpPr/>
          <p:nvPr/>
        </p:nvSpPr>
        <p:spPr>
          <a:xfrm>
            <a:off x="1097280" y="4873752"/>
            <a:ext cx="9875520" cy="347472"/>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Standardized API reduces barriers</a:t>
            </a:r>
            <a:endParaRPr lang="en-US" sz="1800" dirty="0"/>
          </a:p>
        </p:txBody>
      </p:sp>
      <p:sp>
        <p:nvSpPr>
          <p:cNvPr id="18" name="Text 16"/>
          <p:cNvSpPr/>
          <p:nvPr/>
        </p:nvSpPr>
        <p:spPr>
          <a:xfrm>
            <a:off x="1097280" y="5257800"/>
            <a:ext cx="9875520" cy="41148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Reproducible analysis pipeline replacing manual harmonization, enabling broader immunological studies</a:t>
            </a:r>
            <a:endParaRPr lang="en-US" sz="1400" dirty="0"/>
          </a:p>
        </p:txBody>
      </p:sp>
      <p:sp>
        <p:nvSpPr>
          <p:cNvPr id="19" name="Text 17"/>
          <p:cNvSpPr/>
          <p:nvPr/>
        </p:nvSpPr>
        <p:spPr>
          <a:xfrm>
            <a:off x="731520" y="5943600"/>
            <a:ext cx="10515600" cy="365760"/>
          </a:xfrm>
          <a:prstGeom prst="rect">
            <a:avLst/>
          </a:prstGeom>
          <a:noFill/>
          <a:ln/>
        </p:spPr>
        <p:txBody>
          <a:bodyPr wrap="square" rtlCol="0" anchor="ctr"/>
          <a:lstStyle/>
          <a:p>
            <a:pPr algn="ctr" indent="0" marL="0">
              <a:buNone/>
            </a:pPr>
            <a:r>
              <a:rPr lang="en-US" sz="1200" dirty="0">
                <a:solidFill>
                  <a:srgbClr val="718096"/>
                </a:solidFill>
                <a:latin typeface="Calibri" pitchFamily="34" charset="0"/>
                <a:ea typeface="Calibri" pitchFamily="34" charset="-122"/>
                <a:cs typeface="Calibri" pitchFamily="34" charset="-120"/>
              </a:rPr>
              <a:t>IS-API v0.3.0  |  System Immunology Lab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2026-08-11T08:47:20Z</dcterms:created>
  <dcterms:modified xsi:type="dcterms:W3CDTF">2026-08-11T08:47:20Z</dcterms:modified>
</cp:coreProperties>
</file>